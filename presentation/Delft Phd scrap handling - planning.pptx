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follows the 4-topic structure of the research plan (planning.md) exactly. Every topic is illustrated with figures taken directly from the papers in the repository ('papers/particles-based models').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line: this presentation is the plan itself, made visual. Topic 1 = the core mechanics; Topic 2 = the frontier and the gaps; Topic 3 = the defensible 4-year methodology; Topic 4 = why I am the right candidate to run it at Tata Steel NL.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topic 1.1. The plan attributes this reading to 'Zhou et al.'; the corresponding papers in the repository are Zhong et al. (2016), Powder Technology 300:109–127 (plan refs [2,3]) and Lu et al. (2015), CES 127:425–465 (refs [4,5] cover the same framework). Walk the four quadrants: clumps (top-left) = the workflow we will use for 3D-scanned scrap; polyhedra (top-right) = angular geometry; Fig. 3 (bottom-left) = why contact mechanics is hard (contact-point jumps → multi-point contacts); super-quadrics (bottom-right) = smooth systematic variation. Message: representation choice is a physics choice, and it drives the &gt;80% contact-detection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topic 1.2. The plan's ref [6] is the MDPI paper (2075-163X/13/12/1501) = Schefler &amp; Coetzee (2023), Minerals 13(12):1501 — it is in the repository; ref [7] is the Rossow thesis (ro.uow.edu.au). The plan attributes the reading to 'Hastie'; the actual authors of the MDPI paper are Schefler &amp; Coetzee (Hastie &amp; Wypych is a cited reference inside it). Points: velocity tracking, chute-liner wear, stagnation zones — exactly the three quantities we need for continuous furnace infeed. Validation standard shown: particle-by-particle DEM vs high-speed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topic 1.3. Plan refs [8,9]; the repository paper is You et al. (2018), Powder Technology (the plan cites it as 'Jiang et al.' — the ResearchGate link [8] is the same paper; first author You). Why this matters for scrap: heterogeneous recipes (bales + shreds + HMS) on a vibratory feeder self-segregate before the chute. The 1.5g rule tells us when sorting happens — we will use it to predict which scrap discharges first and prevent chute blockage. Bottom-right: real on-site scrap feeding data already exists (Xiao et al. 2024) — our validation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slide: we do NOT question either pillar — both are excellent and validated. The plan's Topic 2 asks us to 'establish the absolute frontier and highlight exactly what the academic community hasn't solved yet.' The frontier = industrial plant-geometry DEM + industrial EAF CFD. The unsolved piece = the mechanical, multi-property infeed interface between them. The next slide makes the three concrete gaps explicit (plan's 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plan's Topic 2 table, reproduced. The three gap studies are external to the repository (ScienceDirect / ResearchGate / arXiv) — I have read them; the figures here illustrate each phenomenon with papers I do have. Gap 1: co-segregation at real plant scale (the Tata BF charging work shows the methodology exists for uniform burden; scrap is the open case). Gap 2: mechanical flow tracking of scrap before melting — exactly what Rossow/Schefler demonstrate is doable for other materials. Gap 3: linking particle-level tracking to real-time spatial distribution — the digital-twin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topic 3.1 — the structural defence of the 4-year plan. The reading (plan ref [10], MDPI Minerals 2024, 14(8):758) is external; the figures give the argument numbers: 1.6× upscaling is validated (≤10% error), the limit depends on the bulk quantity of interest, cohesion relaxes it, and angle-of-repose is the cheapest physical validation (a tilt-box experiment on virtual-scrap vs real-scrap). Methodology in one sentence: represent mm–m scrap at multiple scales, each scale validated against a physical experiment (AOR, discharge, force).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topic 3.2 — the novelty in the plan's own words: multi-scale + multi-property + digital twin + real recipes in a real plant. The three figures say it without adjectives: top = the actual heterogeneous material we track (bales, shreds, HMS); bottom-left = the plant-scale validation standard we hand results to (Chen et al. 2022, NLMK 150-t EAF); bottom-right = what today's models do with scrap — a lumped stack with no mechanical history. Our twin supplies that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topic 4.1: 'reference these software tools in your slides' — Altair EDEM, Ansys Rocky, open-source LIGGGHTS. I can talk about all three at two levels: the UI level (conveyor model, moving boundaries, export) and the physics level (the spring–dashpot contact model, Fig. right; the DEM/CDM coupling in MFIX-DEM, Fig. left). The open-source route also means I can modify the solver itself — relevant for the multi-property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topic 4.2: the three validation workflows named in the plan — dropping tests (coefficient of restitution), tilting boxes (angle of repose → friction), feeder mass-flow tracking — each shown with the apparatus or the data. Top: the tilt-tester and rotating-surface friction rigs (Rossow &amp; Coetzee 2021, Fig. 2). Bottom-left: what validation outputs — a complete, cited parameter set (Table 2). Bottom-right: on-site feeder mass-flow data (Xiao et al. 2024). This is the part of my profile that is already runnable at Tata Steel NL.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map each plan topic to a concrete, evidenced answer. Then land the opening line of the plan: Tata Steel backing means the bar is industrial calibration, not idealised particles — and every slide in this deck has shown that bar being met, paper by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are extracted from the PDFs in 'papers/particles-based models' (caption sources on each slide). The plan's external references [9]–[12] are the Topic 2 gap studies and the Topic 3 calibration paper — read and cited as in planning.md. Permission note: figures are reproduced for the PhD interview presentation of the repository owner, who holds these papers; keep this use non-public.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F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FR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17.jpg"/><Relationship Id="rId5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A1297-67BB-EAD1-1AE9-5B26DDBB7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FR" dirty="0"/>
              <a:t>Phd thesis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2EB9E-A6E0-88E0-705E-F5EC452F5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FR" dirty="0"/>
              <a:t>Particle Based Modelling of Scrap Handling for Green Steel Production</a:t>
            </a:r>
          </a:p>
          <a:p>
            <a:endParaRPr lang="en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8BD64C-A677-9742-DDED-E5F5047FC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579" y="0"/>
            <a:ext cx="2046125" cy="1719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B97F0D-6FDE-8B09-9B00-8EA62A632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943" y="-340117"/>
            <a:ext cx="4933414" cy="26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76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3EE9-CEC9-0931-5474-22705F201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66313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8B5472-CA0A-DBD5-1850-8D985B24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30" y="300243"/>
            <a:ext cx="7772400" cy="52787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3D3EF0-9E86-8A98-5F6C-9F1C53BC0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066" y="5732977"/>
            <a:ext cx="5829300" cy="723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C4D70A-6DC0-D60D-73CF-ED0725335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622" y="2082979"/>
            <a:ext cx="72263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25226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AGENDA  ·  THE RESEARCH PLAN IN FOUR TOPICS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From Granular Physics to the Harsh Reality of Scrap Yards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2743200" cy="288036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072" y="1490472"/>
            <a:ext cx="457200" cy="457200"/>
          </a:xfrm>
          <a:prstGeom prst="ellipse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45336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3B5C"/>
                </a:solidFill>
                <a:latin typeface="Calibri"/>
              </a:rPr>
              <a:t>DEM theory &amp; conveyor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3774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Core mathematical framework (shape &amp; contact) • belt &amp; chute kinematics • vibratory feeders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87268" y="1325880"/>
            <a:ext cx="2743200" cy="288036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1860" y="1490472"/>
            <a:ext cx="457200" cy="457200"/>
          </a:xfrm>
          <a:prstGeom prst="ellipse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7076" y="1545336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3B5C"/>
                </a:solidFill>
                <a:latin typeface="Calibri"/>
              </a:rPr>
              <a:t>State of the art &amp; knowledge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0148" y="2286000"/>
            <a:ext cx="23774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Three gaps between mature bulk-handling DEM and mature EAF melting CFD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325880"/>
            <a:ext cx="2743200" cy="288036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27648" y="1490472"/>
            <a:ext cx="457200" cy="457200"/>
          </a:xfrm>
          <a:prstGeom prst="ellipse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1545336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3B5C"/>
                </a:solidFill>
                <a:latin typeface="Calibri"/>
              </a:rPr>
              <a:t>Methodology, novelty &amp; challenges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286000"/>
            <a:ext cx="23774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The coarse-graining dilemma • a multi-scale, multi-property digital twin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8844" y="1325880"/>
            <a:ext cx="2743200" cy="288036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03436" y="1490472"/>
            <a:ext cx="457200" cy="457200"/>
          </a:xfrm>
          <a:prstGeom prst="ellipse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8652" y="1545336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3B5C"/>
                </a:solidFill>
                <a:latin typeface="Calibri"/>
              </a:rPr>
              <a:t>Personal skills &amp; competencies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1724" y="2286000"/>
            <a:ext cx="23774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DEM software (EDEM / Rocky / LIGGGHTS) • experimental validation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572000"/>
            <a:ext cx="11365992" cy="566928"/>
          </a:xfrm>
          <a:prstGeom prst="roundRect">
            <a:avLst>
              <a:gd name="adj" fmla="val 4500"/>
            </a:avLst>
          </a:prstGeom>
          <a:solidFill>
            <a:srgbClr val="14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Every topic below is built on the plan's 'Proposed Readings' — illustrated with figures from the papers in the repository. Backed by Tata Steel Netherlands: industrially calibrated simulation separates this project from idealised spherical-particle work (plan, opening line).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TOPIC 1 · THEORY OF PARTICLE-BASED MODELS (DEM) &amp; CONVEYOR SYSTEMS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Core Framework: Non-Spherical Representation &amp; Contact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3977639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plan demands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“Scrap is never round” — the heavy computational tradeoffs of non-spherical shapes must be shown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Three representations, each with a cost: multi-sphere clusters, polyhedra, superquadrics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Contact-detection mechanics dominates runtime: &gt; 80% of CPU in non-spherical DEM (Lu et al. 2015)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Choice of representation = choice of physics: shape affects packing, piling, discharge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343400"/>
            <a:ext cx="3977639" cy="1874519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4471416"/>
            <a:ext cx="45720" cy="1618487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4471416"/>
            <a:ext cx="3666744" cy="1618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8A33D"/>
                </a:solidFill>
                <a:latin typeface="Calibri"/>
              </a:rPr>
              <a:t>PROPOSED READING  (plan)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43B5C"/>
                </a:solidFill>
                <a:latin typeface="Calibri"/>
              </a:rPr>
              <a:t>“DEM/CFD-DEM Modelling of Non-Spherical Particulate Systems: Theoretical Developments and Applications”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Why you need it:  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Outlines how to mathematically represent non-spherical particles (multi-sphere clusters, polyhedra, superquadrics) and handle complex contact-detection mechanics.</a:t>
            </a:r>
          </a:p>
        </p:txBody>
      </p:sp>
      <p:pic>
        <p:nvPicPr>
          <p:cNvPr id="11" name="Picture 10" descr="s3_clum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785" y="1188720"/>
            <a:ext cx="2571750" cy="2057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3264408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Multi-sphere clumps from 3D-scanned grains (Rossow &amp; Coetzee, 2021, Fig. 1)</a:t>
            </a:r>
          </a:p>
        </p:txBody>
      </p:sp>
      <p:pic>
        <p:nvPicPr>
          <p:cNvPr id="13" name="Picture 12" descr="s3_polyhed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159" y="1188720"/>
            <a:ext cx="1602200" cy="2057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6760" y="3264408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Voxelised non-convex polyhedron (Lu et al., 2015, Fig. 14)</a:t>
            </a:r>
          </a:p>
        </p:txBody>
      </p:sp>
      <p:pic>
        <p:nvPicPr>
          <p:cNvPr id="15" name="Picture 14" descr="s3_fi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094" y="3630168"/>
            <a:ext cx="3664131" cy="2331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17720" y="598017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Contact point, normal &amp; overlap: spheres vs non-sphericals (Lu et al., 2015, Fig. 3)</a:t>
            </a:r>
          </a:p>
        </p:txBody>
      </p:sp>
      <p:pic>
        <p:nvPicPr>
          <p:cNvPr id="17" name="Picture 16" descr="s4_famil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4035032"/>
            <a:ext cx="2240280" cy="15219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55480" y="5980176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Super-quadric family, shape index s (You et al., 2018)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TOPIC 1 · THEORY OF PARTICLE-BASED MODELS (DEM) &amp; CONVEYOR SYSTEMS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Belt &amp; Chute Kinematics: Tracking at Moving Boundaries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3977639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plan demands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Precise tracking of material velocity along the belt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Preferential wear on chute linings; avoiding stagnation zones during belt discharge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“Perfect for mapping continuous furnace infeed” (plan)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Chevron belts grip material by geometry, not friction alone — first DEM study of a chevron belt (Rossow &amp; Coetzee 2021)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343400"/>
            <a:ext cx="3977639" cy="1874519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4471416"/>
            <a:ext cx="45720" cy="1618487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4471416"/>
            <a:ext cx="3666744" cy="1618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8A33D"/>
                </a:solidFill>
                <a:latin typeface="Calibri"/>
              </a:rPr>
              <a:t>PROPOSED READING  (plan)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43B5C"/>
                </a:solidFill>
                <a:latin typeface="Calibri"/>
              </a:rPr>
              <a:t>“Discrete Element Modelling of a Bulk Cohesive Material Discharging from a Belt Conveyor onto an Inclined Impact Plate”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Why you need it:  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Covers precise tracking of material velocity, preferential wear on chute linings, and avoiding stagnation zones during belt discharge — perfect for mapping continuous furnace infeed.</a:t>
            </a:r>
          </a:p>
        </p:txBody>
      </p:sp>
      <p:pic>
        <p:nvPicPr>
          <p:cNvPr id="11" name="Picture 10" descr="s6_chev_c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572925"/>
            <a:ext cx="3611880" cy="128898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3264408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Chevron-patterned belt in the DEM model (Rossow &amp; Coetzee, 2021, Fig. 3a)</a:t>
            </a:r>
          </a:p>
        </p:txBody>
      </p:sp>
      <p:pic>
        <p:nvPicPr>
          <p:cNvPr id="13" name="Picture 12" descr="s6_belt_f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418325"/>
            <a:ext cx="3429000" cy="15981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66760" y="3264408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Material flow on the chevron belt — DEM vs footage (Rossow &amp; Coetzee, 2021, Fig. 8)</a:t>
            </a:r>
          </a:p>
        </p:txBody>
      </p:sp>
      <p:pic>
        <p:nvPicPr>
          <p:cNvPr id="15" name="Picture 14" descr="s8_dischar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195" y="3630168"/>
            <a:ext cx="3090929" cy="2331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17720" y="59801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Discharge from belt to inclined impact plate — experiment (Schefler &amp; Coetzee, 2023)</a:t>
            </a:r>
          </a:p>
        </p:txBody>
      </p:sp>
      <p:pic>
        <p:nvPicPr>
          <p:cNvPr id="17" name="Picture 16" descr="s7_chu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3991284"/>
            <a:ext cx="3429000" cy="160948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5980176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Chute transfer flow — DEM vs high-speed footage (Rossow &amp; Coetzee, 2021, Fig. 13)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TOPIC 1 · THEORY OF PARTICLE-BASED MODELS (DEM) &amp; CONVEYOR SYSTEMS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Vibratory Feeders: Dynamic Friction, Sorting &amp; Discharge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3977639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plan demands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Vibratory feeders induce highly dynamic contact friction and segregation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Frequency &amp; amplitude change the velocity distribution and discharge sequence of heterogeneous streams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Design rule: effective separation when (2πf)²A ≈ 1.5 g (You et al. 2018)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Real scrap feeding speed is measurable today with vision tracking (Xiao et al. 2024)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343400"/>
            <a:ext cx="3977639" cy="1874519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4471416"/>
            <a:ext cx="45720" cy="1618487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4471416"/>
            <a:ext cx="3666744" cy="1618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8A33D"/>
                </a:solidFill>
                <a:latin typeface="Calibri"/>
              </a:rPr>
              <a:t>PROPOSED READING  (plan)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43B5C"/>
                </a:solidFill>
                <a:latin typeface="Calibri"/>
              </a:rPr>
              <a:t>“Investigation of the Vibration Sorting of Non-Spherical Particles Based on DEM Simulation”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Why you need it:  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Vibratory feeders induce highly dynamic contact friction and segregation. This text helps you explain how vibration frequencies and amplitudes change the velocity distribution and discharge sequences of heterogeneous material streams.</a:t>
            </a:r>
          </a:p>
        </p:txBody>
      </p:sp>
      <p:pic>
        <p:nvPicPr>
          <p:cNvPr id="11" name="Picture 10" descr="s9_de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435" y="1188720"/>
            <a:ext cx="4698609" cy="1874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3081528"/>
            <a:ext cx="7178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Vibration sorting device — experiment &amp; DEM side by side (You et al., 2018, Fig. 6)</a:t>
            </a:r>
          </a:p>
        </p:txBody>
      </p:sp>
      <p:pic>
        <p:nvPicPr>
          <p:cNvPr id="13" name="Picture 12" descr="s9_sort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514995"/>
            <a:ext cx="2331720" cy="23334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7720" y="59344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Separation patterns on the vibrating plate — DEM (You et al., 2018)</a:t>
            </a:r>
          </a:p>
        </p:txBody>
      </p:sp>
      <p:pic>
        <p:nvPicPr>
          <p:cNvPr id="15" name="Picture 14" descr="s9_dem_model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663" y="3447288"/>
            <a:ext cx="1311592" cy="2468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86600" y="59344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DEM super-ellipsoid models: sphere &amp; cube (You et al., 2018)</a:t>
            </a:r>
          </a:p>
        </p:txBody>
      </p:sp>
      <p:pic>
        <p:nvPicPr>
          <p:cNvPr id="17" name="Picture 16" descr="s10_spe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4297092"/>
            <a:ext cx="2240280" cy="76927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55480" y="5934456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Feeding speed vs vibrator frequency — on-site (Xiao et al., 2024)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TOPIC 2 · STATE OF THE ART &amp; KNOWLEDGE GAPS IN SCRAP/EAF MODELLING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Two Mature Pillars — and the Missing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33856"/>
            <a:ext cx="113385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06000"/>
              </a:lnSpc>
              <a:spcAft>
                <a:spcPts val="500"/>
              </a:spcAft>
            </a:pPr>
            <a:r>
              <a:rPr sz="110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Pillar 1 — non-spherical DEM for bulk handling: mature, calibrated, validated across industry (Zhong et al. 2016)</a:t>
            </a:r>
          </a:p>
          <a:p>
            <a:pPr marL="0">
              <a:lnSpc>
                <a:spcPct val="106000"/>
              </a:lnSpc>
              <a:spcAft>
                <a:spcPts val="500"/>
              </a:spcAft>
            </a:pPr>
            <a:r>
              <a:rPr sz="110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Pillar 2 — EAF melting CFD: fully 3-D, industrially validated in a 150-t furnace (Chen et al. 2022)</a:t>
            </a:r>
          </a:p>
          <a:p>
            <a:pPr marL="0">
              <a:lnSpc>
                <a:spcPct val="106000"/>
              </a:lnSpc>
              <a:spcAft>
                <a:spcPts val="500"/>
              </a:spcAft>
            </a:pPr>
            <a:r>
              <a:rPr sz="110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The missing bridge — mechanical, multi-property tracking of heterogeneous scrap infeed (plan, Topic 2)</a:t>
            </a:r>
          </a:p>
        </p:txBody>
      </p:sp>
      <p:pic>
        <p:nvPicPr>
          <p:cNvPr id="8" name="Picture 7" descr="s13_ap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41" y="2560320"/>
            <a:ext cx="4108996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16168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DEM applications across industry — bulk handling is everywhere (Zhong et al., 2016, Fig. 1)</a:t>
            </a:r>
          </a:p>
        </p:txBody>
      </p:sp>
      <p:pic>
        <p:nvPicPr>
          <p:cNvPr id="10" name="Picture 9" descr="s12_eaf3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874830"/>
            <a:ext cx="3520440" cy="27085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5916168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3-D EAF model: electrodes, scrap pile, burners, hot heel (Chen et al., 2022)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542032"/>
            <a:ext cx="3246120" cy="3611880"/>
          </a:xfrm>
          <a:prstGeom prst="roundRect">
            <a:avLst>
              <a:gd name="adj" fmla="val 4500"/>
            </a:avLst>
          </a:prstGeom>
          <a:solidFill>
            <a:srgbClr val="14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2743200"/>
            <a:ext cx="2834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E8A33D"/>
                </a:solidFill>
                <a:latin typeface="Calibri"/>
              </a:rPr>
              <a:t>THE BRIDGE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How the charge actually arrives — structure, sequence, segregation, composition — is not resolved by either pillar.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That is the PhD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TOPIC 2 · STATE OF THE ART &amp; KNOWLEDGE GAPS IN SCRAP/EAF MODELLING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Three Knowledge Gaps to Close (Plan, Topic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7452360" cy="155448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61872"/>
            <a:ext cx="71323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43B5C"/>
                </a:solidFill>
                <a:latin typeface="Calibri"/>
              </a:rPr>
              <a:t>1 · Industrial co-segregation &amp; charging geometry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2B2B2B"/>
                </a:solidFill>
                <a:latin typeface="Calibri"/>
              </a:rPr>
              <a:t>SOTA: industrial multi-component segregation in blast-furnace charging with actual plant geometry — Tata Steel IJmuiden (Ahmed et al., 2026). Gap: existing models handle uniform raw materials (e.g. iron-ore pellets); applying this plant-geometry framework to chaotic, large-scale steel scrap is open.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B6B6B"/>
                </a:solidFill>
                <a:latin typeface="Calibri"/>
              </a:rPr>
              <a:t>Plan ref [1] — ScienceDirect S0032591026000045 · external to the repository; figure illustrates the phenomenon</a:t>
            </a:r>
          </a:p>
        </p:txBody>
      </p:sp>
      <p:pic>
        <p:nvPicPr>
          <p:cNvPr id="9" name="Picture 8" descr="s13_bucke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646" y="1188720"/>
            <a:ext cx="2167466" cy="1280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0" y="2487168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Charge buckets enter the furnace as discrete, structured inputs (Chen et al., 2022)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71216"/>
            <a:ext cx="7452360" cy="155448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962656"/>
            <a:ext cx="71323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43B5C"/>
                </a:solidFill>
                <a:latin typeface="Calibri"/>
              </a:rPr>
              <a:t>2 · Scrap chute behaviour &amp; calibration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2B2B2B"/>
                </a:solidFill>
                <a:latin typeface="Calibri"/>
              </a:rPr>
              <a:t>SOTA: experimental + DEM analysis of galvanized steel scrap along and after an inclined chute (ResearchGate). Gap: most EAF models focus on thermal/CFD chemistry in the furnace — not the mechanical, physical flow tracking of scrap during continuous feeding.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B6B6B"/>
                </a:solidFill>
                <a:latin typeface="Calibri"/>
              </a:rPr>
              <a:t>Plan ref [2] — ResearchGate · external to the repository; figure illustrates the phenomenon</a:t>
            </a:r>
          </a:p>
        </p:txBody>
      </p:sp>
      <p:pic>
        <p:nvPicPr>
          <p:cNvPr id="13" name="Picture 12" descr="s7_impa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996" y="2889504"/>
            <a:ext cx="2488767" cy="1280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1000" y="4187952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Mechanical flow tracking at the impact plate — DEM vs footage (Rossow &amp; Coetzee, 2021, Fig. 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572000"/>
            <a:ext cx="7452360" cy="155448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4663440"/>
            <a:ext cx="71323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43B5C"/>
                </a:solidFill>
                <a:latin typeface="Calibri"/>
              </a:rPr>
              <a:t>3 · Material heterogeneity &amp; chemical analytics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2B2B2B"/>
                </a:solidFill>
                <a:latin typeface="Calibri"/>
              </a:rPr>
              <a:t>SOTA: modelling scrap composition in EAF &amp; basic-oxygen furnace processes (arXiv). Gap: plant models rely on post-facto statistical mass balances / statistical AI — physical particle tracking (size, shape, bulk density) is not linked to real-time spatial distribution during infeed.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B6B6B"/>
                </a:solidFill>
                <a:latin typeface="Calibri"/>
              </a:rPr>
              <a:t>Plan ref [3] — arXiv · external to the repository; figure illustrates the phenomenon</a:t>
            </a:r>
          </a:p>
        </p:txBody>
      </p:sp>
      <p:pic>
        <p:nvPicPr>
          <p:cNvPr id="17" name="Picture 16" descr="s5_b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5889" y="4590288"/>
            <a:ext cx="1684981" cy="1280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01000" y="5888736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Shape-driven bed structure &amp; layering — heterogeneity made visible (Zhong et al., 2016, Fig. 45)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TOPIC 3 · METHODOLOGY, NOVELTY &amp; ANTICIPATED CHALLENGES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The Calibration Challenge: the Coarse-Graining Dilemma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3977639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plan demands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Scrap piles span millimetres to metres — simulating every particle is computationally impossible (plan)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Upscaling has validated limits: scale ≤ 1.6 keeps error ≤ 10% (Rossow &amp; Coetzee 2021, Table 9)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The limit is a geometric property of the quantity measured — and grows with cohesion (Schefler &amp; Coetzee 2023)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Angle-of-repose experiments validate the virtual model; shape raises the pile angle (Lu et al. 2015)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343400"/>
            <a:ext cx="3977639" cy="1874519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4471416"/>
            <a:ext cx="45720" cy="1618487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4471416"/>
            <a:ext cx="3666744" cy="1618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8A33D"/>
                </a:solidFill>
                <a:latin typeface="Calibri"/>
              </a:rPr>
              <a:t>PROPOSED READING  (plan)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143B5C"/>
                </a:solidFill>
                <a:latin typeface="Calibri"/>
              </a:rPr>
              <a:t>“Optimization of Discrete Element Method Model to Obtain Stable and Reliable Numerical Results of Mechanical Response of Granular Materials” (MDPI)</a:t>
            </a:r>
          </a:p>
          <a:p>
            <a:pPr>
              <a:lnSpc>
                <a:spcPct val="104000"/>
              </a:lnSpc>
              <a:spcAft>
                <a:spcPts val="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Why you need it:  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Steel scrap piles vary from millimetres to metres. You must explain the methodology for coarse-graining / upscaling the particles while using angle-of-repose physical experiments to validate the virtual model's accuracy.</a:t>
            </a:r>
          </a:p>
        </p:txBody>
      </p:sp>
      <p:pic>
        <p:nvPicPr>
          <p:cNvPr id="11" name="Picture 10" descr="s5_a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987" y="1188720"/>
            <a:ext cx="6027505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7720" y="3218688"/>
            <a:ext cx="7178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Angle-of-repose piles — the shape effect (Lu et al., 2015, Fig. 32)</a:t>
            </a:r>
          </a:p>
        </p:txBody>
      </p:sp>
      <p:pic>
        <p:nvPicPr>
          <p:cNvPr id="13" name="Picture 12" descr="s8_table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567684"/>
            <a:ext cx="7178040" cy="2392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17720" y="5980176"/>
            <a:ext cx="7178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Scale factor vs error — red = &gt; 10% = inaccurate (Rossow &amp; Coetzee, 2021, Table 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TOPIC 3 · METHODOLOGY, NOVELTY &amp; ANTICIPATED CHALLENGES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Core Novelty: a Multi-Property Digital Twin of Scrap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3977639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plan demands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A multi-scale, multi-property characterisation model that transforms raw Tata Steel data into a dynamic digital twin (plan)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“You aren't just simulating generic rocks” — multi-material recipes: bale scrap, shredded scrap, heavy-melting scrap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Recipes move in real industrial environments — Tata Steel NL conveyors, feeders, chutes, furnace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Deliverable: a calibrated, validated DEM twin of the infeed that hands off to EAF melting models (e.g. Chen 2022)</a:t>
            </a:r>
          </a:p>
        </p:txBody>
      </p:sp>
      <p:pic>
        <p:nvPicPr>
          <p:cNvPr id="8" name="Picture 7" descr="s10_fee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052" y="1188720"/>
            <a:ext cx="5377375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3172968"/>
            <a:ext cx="7178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Real heterogeneous scrap recipes on the vibratory feeder, with feature tracking (Xiao et al., 2024)</a:t>
            </a:r>
          </a:p>
        </p:txBody>
      </p:sp>
      <p:pic>
        <p:nvPicPr>
          <p:cNvPr id="10" name="Picture 9" descr="s12_p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660660"/>
            <a:ext cx="3520440" cy="21427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5961888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Real industrial environment: measured vs simulated pit, 150-t EAF (Chen et al., 2022)</a:t>
            </a:r>
          </a:p>
        </p:txBody>
      </p:sp>
      <p:pic>
        <p:nvPicPr>
          <p:cNvPr id="12" name="Picture 11" descr="s12_dualce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116" y="3520440"/>
            <a:ext cx="2070287" cy="2423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760" y="5961888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Today scrap enters EAF models as a lumped stack — the history we recover (Chen et al., 2022)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TOPIC 4 · REFLECTION ON PERSONAL SKILLS &amp; COMPETENCIES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Software Literacy: Three DEM Platforms, One Physics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3675887" cy="141732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280160"/>
            <a:ext cx="3383279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Altair EDEM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6B6B"/>
                </a:solidFill>
                <a:latin typeface="Calibri"/>
              </a:rPr>
              <a:t>commercial industry-standard granular-flow engine; conveyor &amp; chute modules (plan refs [14–18])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6531" y="1170432"/>
            <a:ext cx="3675887" cy="141732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2836" y="1280160"/>
            <a:ext cx="3383279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Ansys Rocky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6B6B"/>
                </a:solidFill>
                <a:latin typeface="Calibri"/>
              </a:rPr>
              <a:t>commercial DEM engine — GPU-accelerated, tuned for industrial scale-up studies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170432"/>
            <a:ext cx="3675887" cy="141732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7" y="1280160"/>
            <a:ext cx="3383279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LIGGGHTS / MFIX-DEM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6B6B"/>
                </a:solidFill>
                <a:latin typeface="Calibri"/>
              </a:rPr>
              <a:t>open-source: LIGGGHTS DEM + MFIX-DEM two-way-coupled gas–solids extension (Garg et al. 2012)</a:t>
            </a:r>
          </a:p>
        </p:txBody>
      </p:sp>
      <p:pic>
        <p:nvPicPr>
          <p:cNvPr id="13" name="Picture 12" descr="mfix_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72" y="2807208"/>
            <a:ext cx="5157534" cy="3154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5980176"/>
            <a:ext cx="5989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MFIX-DEM architecture: DEM + CDM with two-way-coupled gas–solids flow (Garg et al., 2012)</a:t>
            </a:r>
          </a:p>
        </p:txBody>
      </p:sp>
      <p:pic>
        <p:nvPicPr>
          <p:cNvPr id="15" name="Picture 14" descr="mfix_spr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16483"/>
            <a:ext cx="5166360" cy="31361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0" y="5980176"/>
            <a:ext cx="5166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The linear spring–dashpot contact model implemented in all three platforms (Garg et al., 2012)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TOPIC 4 · REFLECTION ON PERSONAL SKILLS &amp; COMPETENCIES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Data Integration &amp; Experimental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3977639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plan demands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Execute physical boundary validations at Tata Steel: dropping tests, tilting boxes, tracking feeder mass-flow rates (plan)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Goal: “the numerical code mirrors the true physical mechanics” (plan)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High-speed video + PIV at the impact plate: particle-by-particle DEM comparison (Rossow &amp; Coetzee 2021)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A full calibrated parameter set per material–surface pair — stiffness, damping, sliding &amp; rolling friction (Rossow &amp; Coetzee 2021, Table 2)</a:t>
            </a:r>
          </a:p>
        </p:txBody>
      </p:sp>
      <p:pic>
        <p:nvPicPr>
          <p:cNvPr id="8" name="Picture 7" descr="rossow_fric_r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66" y="1188720"/>
            <a:ext cx="3168747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2761488"/>
            <a:ext cx="7178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Particle–wall friction test: inclined (tilt) tester &amp; rotating-surface rig (Rossow &amp; Coetzee, 2021, Fig. 2)</a:t>
            </a:r>
          </a:p>
        </p:txBody>
      </p:sp>
      <p:pic>
        <p:nvPicPr>
          <p:cNvPr id="10" name="Picture 9" descr="rossow_tabl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454561"/>
            <a:ext cx="4160520" cy="17776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5596128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The calibrated parameter set per pair (Rossow &amp; Coetzee, 2021, Table 2)</a:t>
            </a:r>
          </a:p>
        </p:txBody>
      </p:sp>
      <p:pic>
        <p:nvPicPr>
          <p:cNvPr id="12" name="Picture 11" descr="s10_spe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3856718"/>
            <a:ext cx="2834640" cy="97336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0" y="559612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Tracking feeder mass flow: speed vs vibrator frequency, on-site (Xiao et al., 2024)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CONCLUSION  ·  THE PLAN, MAPPED TO THE PROJECT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What the Plan Asks — What I Bring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5591556" cy="1719072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44168"/>
            <a:ext cx="5262372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B5C"/>
                </a:solidFill>
                <a:latin typeface="Calibri"/>
              </a:rPr>
              <a:t>1 · DEM theory &amp; conveyors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950" b="1" i="0">
                <a:solidFill>
                  <a:srgbClr val="6B6B6B"/>
                </a:solidFill>
                <a:latin typeface="Calibri"/>
              </a:rPr>
              <a:t>Plan:  </a:t>
            </a:r>
            <a:r>
              <a:rPr sz="950" b="0" i="0">
                <a:solidFill>
                  <a:srgbClr val="6B6B6B"/>
                </a:solidFill>
                <a:latin typeface="Calibri"/>
              </a:rPr>
              <a:t>Understand contact force laws &amp; bulk tracking across moving boundaries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00A4E4"/>
                </a:solidFill>
                <a:latin typeface="Calibri"/>
              </a:rPr>
              <a:t>Bring:  </a:t>
            </a:r>
            <a:r>
              <a:rPr sz="950" b="0" i="0">
                <a:solidFill>
                  <a:srgbClr val="2B2B2B"/>
                </a:solidFill>
                <a:latin typeface="Calibri"/>
              </a:rPr>
              <a:t>Command of non-spherical contact, chevron-belt kinematics &amp; vibratory feeding — each backed by calibrated, validated papers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234440"/>
            <a:ext cx="5591556" cy="1719072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508" y="1344168"/>
            <a:ext cx="5262372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B5C"/>
                </a:solidFill>
                <a:latin typeface="Calibri"/>
              </a:rPr>
              <a:t>2 · SOTA &amp; knowledge gaps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950" b="1" i="0">
                <a:solidFill>
                  <a:srgbClr val="6B6B6B"/>
                </a:solidFill>
                <a:latin typeface="Calibri"/>
              </a:rPr>
              <a:t>Plan:  </a:t>
            </a:r>
            <a:r>
              <a:rPr sz="950" b="0" i="0">
                <a:solidFill>
                  <a:srgbClr val="6B6B6B"/>
                </a:solidFill>
                <a:latin typeface="Calibri"/>
              </a:rPr>
              <a:t>Establish the frontier; highlight exactly what is unsolved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00A4E4"/>
                </a:solidFill>
                <a:latin typeface="Calibri"/>
              </a:rPr>
              <a:t>Bring:  </a:t>
            </a:r>
            <a:r>
              <a:rPr sz="950" b="0" i="0">
                <a:solidFill>
                  <a:srgbClr val="2B2B2B"/>
                </a:solidFill>
                <a:latin typeface="Calibri"/>
              </a:rPr>
              <a:t>Three concrete gaps: industrial co-segregation, chute calibration, heterogeneity/chemistry — with the method to close each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108960"/>
            <a:ext cx="5591556" cy="1719072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3218688"/>
            <a:ext cx="5262372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B5C"/>
                </a:solidFill>
                <a:latin typeface="Calibri"/>
              </a:rPr>
              <a:t>3 · Methodology &amp; novelty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950" b="1" i="0">
                <a:solidFill>
                  <a:srgbClr val="6B6B6B"/>
                </a:solidFill>
                <a:latin typeface="Calibri"/>
              </a:rPr>
              <a:t>Plan:  </a:t>
            </a:r>
            <a:r>
              <a:rPr sz="950" b="0" i="0">
                <a:solidFill>
                  <a:srgbClr val="6B6B6B"/>
                </a:solidFill>
                <a:latin typeface="Calibri"/>
              </a:rPr>
              <a:t>Defend the 4-year plan; state the novelty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00A4E4"/>
                </a:solidFill>
                <a:latin typeface="Calibri"/>
              </a:rPr>
              <a:t>Bring:  </a:t>
            </a:r>
            <a:r>
              <a:rPr sz="950" b="0" i="0">
                <a:solidFill>
                  <a:srgbClr val="2B2B2B"/>
                </a:solidFill>
                <a:latin typeface="Calibri"/>
              </a:rPr>
              <a:t>Validated upscaling (≤ 1.6×, ≤ 10%) + AOR experiments → a multi-scale, multi-property digital twin of multi-material recipes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3108960"/>
            <a:ext cx="5591556" cy="1719072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270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508" y="3218688"/>
            <a:ext cx="5262372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B5C"/>
                </a:solidFill>
                <a:latin typeface="Calibri"/>
              </a:rPr>
              <a:t>4 · Personal skills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950" b="1" i="0">
                <a:solidFill>
                  <a:srgbClr val="6B6B6B"/>
                </a:solidFill>
                <a:latin typeface="Calibri"/>
              </a:rPr>
              <a:t>Plan:  </a:t>
            </a:r>
            <a:r>
              <a:rPr sz="950" b="0" i="0">
                <a:solidFill>
                  <a:srgbClr val="6B6B6B"/>
                </a:solidFill>
                <a:latin typeface="Calibri"/>
              </a:rPr>
              <a:t>Show the tools &amp; validation workflows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00A4E4"/>
                </a:solidFill>
                <a:latin typeface="Calibri"/>
              </a:rPr>
              <a:t>Bring:  </a:t>
            </a:r>
            <a:r>
              <a:rPr sz="950" b="0" i="0">
                <a:solidFill>
                  <a:srgbClr val="2B2B2B"/>
                </a:solidFill>
                <a:latin typeface="Calibri"/>
              </a:rPr>
              <a:t>EDEM / Rocky / LIGGGHTS + drop, tilt-box &amp; mass-flow validation — ready to execute at Tata Steel NL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257800"/>
            <a:ext cx="11365992" cy="1005840"/>
          </a:xfrm>
          <a:prstGeom prst="roundRect">
            <a:avLst>
              <a:gd name="adj" fmla="val 4500"/>
            </a:avLst>
          </a:prstGeom>
          <a:solidFill>
            <a:srgbClr val="14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413248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Backed by Tata Steel Netherlands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9EEFB"/>
                </a:solidFill>
                <a:latin typeface="Calibri"/>
              </a:rPr>
              <a:t>Industrially calibrated simulation — non-spherical, multi-material, plant-geometry — is what separates this project from idealised spherical-particle work (plan, opening line).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SUPPORTING LITERATURE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Figures (repository papers) &amp; Plan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aligned with the 4-topic research plan (planning.md)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55778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900" b="1" i="0">
                <a:solidFill>
                  <a:srgbClr val="00A4E4"/>
                </a:solidFill>
                <a:latin typeface="Calibri"/>
              </a:rPr>
              <a:t>REPOSITORY PAPERS  (all figures)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[1]  Lu G., Third J.R., Müller C.R. (2015). Discrete element models for non-spherical particle systems: from theoretical developments to applications. Chemical Engineering Science 127: 425–465. — Figs 3, 14, 32; super-quadric family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[2]  Rossow J., Coetzee C.J. (2021). Discrete element modelling of a chevron patterned conveyor belt and a transfer chute. Powder Technology 391: 77–96. — Figs 1, 2, 3, 8, 10, 13; Tables 2, 9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[3]  Schefler O.C., Coetzee C.J. (2023). Discrete element modelling of a bulk cohesive material discharging from a conveyor belt onto an impact plate. Minerals 13(12): 1501. — discharge experiment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[4]  You Y., Liu M., Ma H., et al. (2018). Investigation of the vibration sorting of non-spherical particles based on DEM simulation. Powder Technology. doi:10.1016/j.powtec.2017.11.002 — device, models, sorting patterns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[5]  Xiao X., Zhong X., Ma M., Wu X. (2024). A visual based algorithm for measuring the speed of scrap metal vibration feeding. ACM CSAE 2024. doi:10.1145/3704814.3704817 — feeder tracking, speed curve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[6]  Chen Y., Ryan S., Silaen A.K., Zhou C.Q. (2022). Simulation of scrap melting process in an AC electric arc furnace. Metall. Mater. Trans. B 53: 3256–3272. — 3-D model, dual-cell, pit validation, buckets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07008"/>
            <a:ext cx="55778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[7]  Zhong W., Yu A., Liu X., Tong Z., Zhang H. (2016). DEM/CFD-DEM modelling of non-spherical particulate systems: theoretical developments and applications. Powder Technology 300: 109–127. — Figs 1, 45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[8]  Garg R., Galvin J., Li T., Pannala S. (2012). Documentation of open-source MFIX-DEM software for gas–solids flows. NETL/ORNL. — architecture &amp; contact model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900" b="1" i="0">
                <a:solidFill>
                  <a:srgbClr val="00A4E4"/>
                </a:solidFill>
                <a:latin typeface="Calibri"/>
              </a:rPr>
              <a:t>PLAN REFERENCES  (planning.md, external to the repository)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[9]  Ahmed H., Pang Y., Adema A., et al. (2026). Industrial-scale DEM modelling of segregation in the blast furnace charging system — Tata Steel IJmuiden (plan ref [1], ScienceDirect S0032591026000045).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[10] Experimental and DEM analysis of galvanized steel scrap particles along and after an inclined chute (plan ref [2], ResearchGate).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[11] Modeling scrap composition in electric arc and basic oxygen furnace processes (plan ref [3], arXiv).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[12] Optimization of DEM model to obtain stable and reliable numerical results of mechanical response of granular materials (plan ref [10], MDPI Minerals 2024, 14(8): 758).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2725</TotalTime>
  <Words>13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Franklin Gothic Book</vt:lpstr>
      <vt:lpstr>Crop</vt:lpstr>
      <vt:lpstr>Phd thesis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Tongue Kevin</dc:creator>
  <cp:lastModifiedBy>Tongue Kevin</cp:lastModifiedBy>
  <cp:revision>3</cp:revision>
  <dcterms:created xsi:type="dcterms:W3CDTF">2026-09-15T09:22:19Z</dcterms:created>
  <dcterms:modified xsi:type="dcterms:W3CDTF">2026-09-17T06:48:08Z</dcterms:modified>
</cp:coreProperties>
</file>
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Companion deck to the main 15-minute presentation. Every claim in the main deck is supported here by a figure taken directly from the papers in the repository ('papers/particles-based models'). Use as backup / evidence slides, or walk through the ~6 strongest (S3, S7, S8, S10, S11, S12)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minute: show the committee the evidence chain. 35 figures from 10 papers in the repository, each supporting a specific statement from the main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quadrants: (top-left) the clump workflow used for irregular particles — the same workflow applies to 3D-scanned scrap; (top-right) angular geometry via voxels; (bottom-left) why contact mechanics is harder for non-sphericals (Fig. 3c: sudden contact-point jumps → multi-point contact needed); (bottom-right) smooth shapes via super-ellipsoids. Message: representation choice = physics choice, and it drives contact-detection cost (&gt;80% of CPU, Lu 2015).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shredded/baled scrap, super-quadrics model the rounded bales; for HMS bundles, polyhedra; for general fragments, multi-sphere clusters from scans. The figure also shows why we don't rely on one representation: every method has a preferred application range (Lu 2015 §7; Zhong 2016).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figures justify the whole non-spherical effort: shape changes discharge, layering and pile angle — exactly the phenomena behind chute blockage, bridging and segregation of scrap. Note AOR (angle of repose) as the cheapest lab calibration for our virtual scrap.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Chevron belts grip the material by geometry, not friction alone — crucial for scrap. The side-by-side DEM/footage comparison is the validation standard we will reuse for scrap feeders: high-speed video + PIV at Tata Steel NL.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quote for the committee: 'DEM can be used with confidence in modelling similar applications if a calibrated parameter set is used, and the guidelines presented here in terms of particle scaling are adhered to' (Rossow &amp; Coetzee, 2021). For EAF scrap: same methodology, more irregular particles.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the inevitable 'how do you simulate metres of scrap?' question with numbers, not promises: 1.6× upscaling is validated (≤10% error), the limit depends on the quantity you care about, and cohesion relaxes the limit. Our coarse-graining strategy inherits exactly these guidelines.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matters for scrap: heterogeneous recipes (bales + shreds + HMS) on a vibratory feeder will self-segregate before the chute. The 1.5g rule (You et al. 2018) tells us when sorting happens — we will use it to predict which scrap discharges first and prevent chute blockage.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'industrial awareness' slide: someone at CISDI is already measuring scrap feeder speed with vision in a running plant. Our plan reuses exactly this class of measurement (plus high-speed video &amp; load cells from Rossow/Schefler) to validate the digital twin at Tata Steel NL.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causal chain that justifies the whole project: infeed heterogeneity → charge packing/porosity → iceberg formation → late melting → energy &amp; productivity losses (Li, Provatas &amp; Irons 2008). This is the 'so what' behind gap 2 in the main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 slide: we do NOT question EAF melting modelling — it is excellent and industrially validated. Our contribution is everything upstream: how the charge actually arrives (structure, sequence, segregation). The digital twin hands off to models like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closing argument, backed by figures: mature DEM + mature CFD + missing interface = the PhD. The project builds the interface: a multi-scale, multi-property digital twin of EAF scrap infeed, calibrated on Tata Steel NL data over 4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were extracted from the PDFs in 'papers/particles-based models' (see file names in the slide captions). Permission note: figures are reproduced for the PhD interview presentation of the repository owner, who holds these papers; keep this use non-public.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F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FR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Relationship Id="rId6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Relationship Id="rId4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A1297-67BB-EAD1-1AE9-5B26DDBB7E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FR" dirty="0"/>
              <a:t>Phd thesis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2EB9E-A6E0-88E0-705E-F5EC452F5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FR" dirty="0"/>
              <a:t>Particle Based Modelling of Scrap Handling for Green Steel Production</a:t>
            </a:r>
          </a:p>
          <a:p>
            <a:endParaRPr lang="en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8BD64C-A677-9742-DDED-E5F5047FC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579" y="0"/>
            <a:ext cx="2046125" cy="17194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B97F0D-6FDE-8B09-9B00-8EA62A632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943" y="-340117"/>
            <a:ext cx="4933414" cy="265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76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3EE9-CEC9-0931-5474-22705F201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66313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8B5472-CA0A-DBD5-1850-8D985B241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30" y="300243"/>
            <a:ext cx="7772400" cy="52787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3D3EF0-9E86-8A98-5F6C-9F1C53BC0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066" y="5732977"/>
            <a:ext cx="5829300" cy="723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C4D70A-6DC0-D60D-73CF-ED0725335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622" y="2082979"/>
            <a:ext cx="72263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25226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HOW TO READ THIS DECK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Evidence Map: From Particle Physics to the Furnace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evidence from the literature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3639312" cy="214884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397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072" y="1490472"/>
            <a:ext cx="457200" cy="457200"/>
          </a:xfrm>
          <a:prstGeom prst="ellipse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27048"/>
            <a:ext cx="272491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3B5C"/>
                </a:solidFill>
                <a:latin typeface="Calibri"/>
              </a:rPr>
              <a:t>Shape &amp;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240280"/>
            <a:ext cx="323697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how non-spherical scrap is represented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325880"/>
            <a:ext cx="3639312" cy="214884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397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490472"/>
            <a:ext cx="457200" cy="457200"/>
          </a:xfrm>
          <a:prstGeom prst="ellipse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527048"/>
            <a:ext cx="272491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3B5C"/>
                </a:solidFill>
                <a:latin typeface="Calibri"/>
              </a:rPr>
              <a:t>Shape →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240280"/>
            <a:ext cx="323697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packing, angle of repose, discharge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5" y="1325880"/>
            <a:ext cx="3639312" cy="214884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397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93607" y="1490472"/>
            <a:ext cx="457200" cy="457200"/>
          </a:xfrm>
          <a:prstGeom prst="ellipse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5" y="1527048"/>
            <a:ext cx="272491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3B5C"/>
                </a:solidFill>
                <a:latin typeface="Calibri"/>
              </a:rPr>
              <a:t>Belt &amp; chevron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240280"/>
            <a:ext cx="323697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DEM at the moving boundary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749039"/>
            <a:ext cx="3639312" cy="214884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397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2" y="3913631"/>
            <a:ext cx="457200" cy="457200"/>
          </a:xfrm>
          <a:prstGeom prst="ellipse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950207"/>
            <a:ext cx="272491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3B5C"/>
                </a:solidFill>
                <a:latin typeface="Calibri"/>
              </a:rPr>
              <a:t>Chute &amp; upscaling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663440"/>
            <a:ext cx="323697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flow, build-up, scaling limits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3749039"/>
            <a:ext cx="3639312" cy="214884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397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4840" y="3913631"/>
            <a:ext cx="457200" cy="457200"/>
          </a:xfrm>
          <a:prstGeom prst="ellipse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3950207"/>
            <a:ext cx="272491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3B5C"/>
                </a:solidFill>
                <a:latin typeface="Calibri"/>
              </a:rPr>
              <a:t>Vibratory feeding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1416" y="4663440"/>
            <a:ext cx="323697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sorting, segregation, design rules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5" y="3749039"/>
            <a:ext cx="3639312" cy="2148840"/>
          </a:xfrm>
          <a:prstGeom prst="roundRect">
            <a:avLst>
              <a:gd name="adj" fmla="val 4500"/>
            </a:avLst>
          </a:prstGeom>
          <a:solidFill>
            <a:srgbClr val="F5F9FC"/>
          </a:solidFill>
          <a:ln w="1397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93607" y="3913631"/>
            <a:ext cx="457200" cy="457200"/>
          </a:xfrm>
          <a:prstGeom prst="ellipse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5" y="3950207"/>
            <a:ext cx="272491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3B5C"/>
                </a:solidFill>
                <a:latin typeface="Calibri"/>
              </a:rPr>
              <a:t>Into the furnace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4663440"/>
            <a:ext cx="323697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Calibri"/>
              </a:rPr>
              <a:t>late melting — and the infeed gap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806440"/>
            <a:ext cx="11365992" cy="548640"/>
          </a:xfrm>
          <a:prstGeom prst="roundRect">
            <a:avLst>
              <a:gd name="adj" fmla="val 4500"/>
            </a:avLst>
          </a:prstGeom>
          <a:solidFill>
            <a:srgbClr val="14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Each of the 6 blocks = one slide below with figures from the papers + the statements they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EVIDENCE 1 — SHAPE &amp; CONTACT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Scrap Is Not Spherical: Representation &amp; Contact Mechanics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evidence from the literature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3977639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What the figures show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Multi-sphere clusters are the workhorse: 3D-scanned grains → STL → 3/5/10-sphere “clumps” (Rossow &amp; Coetzee 2021, Fig. 1)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Polyhedra / voxelised meshes capture angular, non-convex geometry directly (Lu et al. 2015, Fig. 14)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Super-ellipsoids vary blockiness continuously via the shape index s (You et al. 2018)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Every contact carries Fn + Ft; defining the contact point is where non-sphericals get hard (Lu et al. 2015, Fig. 3)</a:t>
            </a:r>
          </a:p>
        </p:txBody>
      </p:sp>
      <p:pic>
        <p:nvPicPr>
          <p:cNvPr id="8" name="Picture 7" descr="s3_clum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785" y="1207008"/>
            <a:ext cx="257175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7720" y="328269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Scanned grains → 3 / 5 / 10-sphere multi-sphere clumps (Rossow &amp; Coetzee, 2021, Fig. 1)</a:t>
            </a:r>
          </a:p>
        </p:txBody>
      </p:sp>
      <p:pic>
        <p:nvPicPr>
          <p:cNvPr id="10" name="Picture 9" descr="s3_polyhed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0159" y="1207008"/>
            <a:ext cx="160220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66760" y="3282696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Voxelised non-convex polyhedron: vertex/edge/face offsets (Lu et al., 2015, Fig. 14)</a:t>
            </a:r>
          </a:p>
        </p:txBody>
      </p:sp>
      <p:pic>
        <p:nvPicPr>
          <p:cNvPr id="12" name="Picture 11" descr="s3_fig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094" y="3675887"/>
            <a:ext cx="3664131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17720" y="602589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Contact point, normal, overlap — spheres (a) vs non-sphericals (b, c) (Lu et al., 2015, Fig. 3)</a:t>
            </a:r>
          </a:p>
        </p:txBody>
      </p:sp>
      <p:pic>
        <p:nvPicPr>
          <p:cNvPr id="14" name="Picture 13" descr="s3_superelli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4582867"/>
            <a:ext cx="2240280" cy="5177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555480" y="6025896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Super-ellipsoid family, s = 2…7 (You et al., 2018)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EVIDENCE 1 — SHAPE &amp; CONTACT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Super-Quadrics: One Equation, a Whole Shape Family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evidence from the literature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3977639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What the figures show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The super-quadric equation sweeps ellipsoid → blocky → star-like shapes by the exponents ε₁, ε₂ (Lu et al. 2015, Fig. 6)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The surface normal is available analytically — a compact, parameterisable description (Lu et al. 2015, Eq. 16)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Contact between two super-quadrics is found iteratively inside a curvilinear region Ω (Lu et al. 2015, Fig. 4b)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Best for smooth, regular, systematically varied shapes; weak for sharp edges &amp; flat faces</a:t>
            </a:r>
          </a:p>
        </p:txBody>
      </p:sp>
      <p:pic>
        <p:nvPicPr>
          <p:cNvPr id="8" name="Picture 7" descr="s4_fami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825" y="1207008"/>
            <a:ext cx="4037828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7720" y="3968496"/>
            <a:ext cx="7178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Fig. 6 — 3D super-quadric family: ε₁ (left→right), ε₂ (top→bottom), exponents 0.3–10 (Lu et al., 2015)</a:t>
            </a:r>
          </a:p>
        </p:txBody>
      </p:sp>
      <p:pic>
        <p:nvPicPr>
          <p:cNvPr id="10" name="Picture 9" descr="s4_eq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812" y="4334255"/>
            <a:ext cx="2803735" cy="1508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586130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Eq. (16) — implicit 3D super-quadric function (Lu et al., 2015)</a:t>
            </a:r>
          </a:p>
        </p:txBody>
      </p:sp>
      <p:pic>
        <p:nvPicPr>
          <p:cNvPr id="12" name="Picture 11" descr="s4_contacto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422040"/>
            <a:ext cx="3108960" cy="13331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0" y="5861304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Fig. 4b — contact region Ω approximation (Lu et al., 2015)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EVIDENCE 2 — SHAPE → FLOW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Shape Decides Packing, Piling and Discharge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evidence from the literature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113385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06000"/>
              </a:lnSpc>
              <a:spcAft>
                <a:spcPts val="5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Same material, different shape representation → different hopper discharge (Zhong et al. 2016, Fig. 20)</a:t>
            </a:r>
          </a:p>
          <a:p>
            <a:pPr marL="0">
              <a:lnSpc>
                <a:spcPct val="106000"/>
              </a:lnSpc>
              <a:spcAft>
                <a:spcPts val="5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Bed structure &amp; layering differ between spherical, cuboidal, prolate and oblate particles (Zhong et al. 2016, Fig. 45)</a:t>
            </a:r>
          </a:p>
          <a:p>
            <a:pPr marL="0">
              <a:lnSpc>
                <a:spcPct val="106000"/>
              </a:lnSpc>
              <a:spcAft>
                <a:spcPts val="5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Angle of repose grows as particles become less spherical (Lu et al. 2015, Fig. 32) — the classic calibration experiment</a:t>
            </a:r>
          </a:p>
        </p:txBody>
      </p:sp>
      <p:pic>
        <p:nvPicPr>
          <p:cNvPr id="8" name="Picture 7" descr="s5_hop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97884"/>
            <a:ext cx="3703320" cy="3316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934456"/>
            <a:ext cx="3703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Hopper discharge: smoothed polyhedra / multi-sphere / super-ellipsoid (Zhong et al., 2016, Fig. 20)</a:t>
            </a:r>
          </a:p>
        </p:txBody>
      </p:sp>
      <p:pic>
        <p:nvPicPr>
          <p:cNvPr id="10" name="Picture 9" descr="s5_b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749154"/>
            <a:ext cx="3703320" cy="28135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51960" y="5934456"/>
            <a:ext cx="3703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Bed structure by shape (Zhong et al., 2016, Fig. 45)</a:t>
            </a:r>
          </a:p>
        </p:txBody>
      </p:sp>
      <p:pic>
        <p:nvPicPr>
          <p:cNvPr id="12" name="Picture 11" descr="s5_a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537956"/>
            <a:ext cx="3703320" cy="123598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2440" y="5934456"/>
            <a:ext cx="3703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Angle-of-repose piles — shape effect (Lu et al., 2015, Fig. 32)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EVIDENCE 3 — BELT &amp; CHEVRON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The Chevron Belt: DEM at the Moving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evidence from the literature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3977639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What the figures show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First DEM study of a chevron-patterned belt: CAD model and the physical test belt (Rossow &amp; Coetzee 2021, Fig. 3)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Wall friction + belt-velocity boundary conditions carry the material — the same physics as a scrap conveyor</a:t>
            </a:r>
          </a:p>
          <a:p>
            <a:pPr marL="0">
              <a:lnSpc>
                <a:spcPct val="106000"/>
              </a:lnSpc>
              <a:spcAft>
                <a:spcPts val="8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Particle-by-particle comparison with high-speed footage (Rossow &amp; Coetzee 2021, Fig. 8)</a:t>
            </a:r>
          </a:p>
        </p:txBody>
      </p:sp>
      <p:pic>
        <p:nvPicPr>
          <p:cNvPr id="8" name="Picture 7" descr="s6_chev_c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114" y="1207008"/>
            <a:ext cx="3715250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7720" y="2551176"/>
            <a:ext cx="7178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Chevron-patterned belt in the DEM model (Rossow &amp; Coetzee, 2021, Fig. 3a)</a:t>
            </a:r>
          </a:p>
        </p:txBody>
      </p:sp>
      <p:pic>
        <p:nvPicPr>
          <p:cNvPr id="10" name="Picture 9" descr="s6_chev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392735"/>
            <a:ext cx="1783080" cy="21207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6025896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The physical chevron belt (Rossow &amp; Coetzee, 2021, Fig. 3)</a:t>
            </a:r>
          </a:p>
        </p:txBody>
      </p:sp>
      <p:pic>
        <p:nvPicPr>
          <p:cNvPr id="12" name="Picture 11" descr="s6_belt_flo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227849"/>
            <a:ext cx="5257800" cy="24505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6025896"/>
            <a:ext cx="5257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Material flow on the chevron belt — DEM (left) vs high-speed footage (right) (Rossow &amp; Coetzee, 2021, Fig. 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EVIDENCE 4 — CHUTE &amp; TRANSFER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Chute Transfer: DEM Predicts Flow, Build-Up and Blockage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evidence from the literature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11338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0">
              <a:lnSpc>
                <a:spcPct val="106000"/>
              </a:lnSpc>
              <a:spcAft>
                <a:spcPts val="5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One calibrated model covers belt → impact plate → hood → rock box → chute (first study to do all of this, Rossow &amp; Coetzee 2021)</a:t>
            </a:r>
          </a:p>
          <a:p>
            <a:pPr marL="0">
              <a:lnSpc>
                <a:spcPct val="106000"/>
              </a:lnSpc>
              <a:spcAft>
                <a:spcPts val="5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Accuracy vs experiment: mass flow ≤ 5.4%, impact velocity &lt; 6.1%, impact-wall force &lt; 17% — better than analytical models</a:t>
            </a:r>
          </a:p>
          <a:p>
            <a:pPr marL="0">
              <a:lnSpc>
                <a:spcPct val="106000"/>
              </a:lnSpc>
              <a:spcAft>
                <a:spcPts val="5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Build-up and blockage are predicted, not assumed — the exact failure mode of EAF infeed chutes</a:t>
            </a:r>
          </a:p>
        </p:txBody>
      </p:sp>
      <p:pic>
        <p:nvPicPr>
          <p:cNvPr id="8" name="Picture 7" descr="s7_chu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401125"/>
            <a:ext cx="3703320" cy="17382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934456"/>
            <a:ext cx="3703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Chute transfer flow — DEM (left) vs high-speed footage (right) (Rossow &amp; Coetzee, 2021, Fig. 13)</a:t>
            </a:r>
          </a:p>
        </p:txBody>
      </p:sp>
      <p:pic>
        <p:nvPicPr>
          <p:cNvPr id="10" name="Picture 9" descr="s7_rockbo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599299"/>
            <a:ext cx="3703320" cy="1341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51960" y="5934456"/>
            <a:ext cx="3703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Rock-box build-up — DEM &amp; experiment (Rossow &amp; Coetzee, 2021, Fig. 21)</a:t>
            </a:r>
          </a:p>
        </p:txBody>
      </p:sp>
      <p:pic>
        <p:nvPicPr>
          <p:cNvPr id="12" name="Picture 11" descr="s7_impac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317800"/>
            <a:ext cx="3703320" cy="19048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2440" y="5934456"/>
            <a:ext cx="3703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Impact-plate outflow velocity field — DEM &amp; footage (Rossow &amp; Coetzee, 2021, Fig. 10)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EVIDENCE 4 — CHUTE &amp; TRANSFER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Cohesive Scrap: Build-Up, and the Limits of Upscaling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evidence from the literature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3977639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What the figures show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Wet-and-sticky material builds up and can block — realistic for dusty/wet scrap (Schefler &amp; Coetzee 2023)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Upscaled DEM reproduces discharge, build-up, force &amp; residual mass with &lt; 15% error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But upscaling has hard limits: scale ≤ 1.6 keeps error ≤ 10% (Rossow &amp; Coetzee 2021, Table 9)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The maximum scale factor is a geometric property of the bulk measure of interest — and grows with cohesion (Schefler &amp; Coetzee 2023)</a:t>
            </a:r>
          </a:p>
        </p:txBody>
      </p:sp>
      <p:pic>
        <p:nvPicPr>
          <p:cNvPr id="8" name="Picture 7" descr="s8_dischar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801" y="1207008"/>
            <a:ext cx="2969716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7720" y="346557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Discharge from belt to inclined impact plate — experiment (Schefler &amp; Coetzee, 2023)</a:t>
            </a:r>
          </a:p>
        </p:txBody>
      </p:sp>
      <p:pic>
        <p:nvPicPr>
          <p:cNvPr id="10" name="Picture 9" descr="s8_buildup_ex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225" y="1207008"/>
            <a:ext cx="2782068" cy="2240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66760" y="3465576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Adhesion build-up on the plate — experiment (Schefler &amp; Coetzee, 2023)</a:t>
            </a:r>
          </a:p>
        </p:txBody>
      </p:sp>
      <p:pic>
        <p:nvPicPr>
          <p:cNvPr id="12" name="Picture 11" descr="s8_buildup_d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893058"/>
            <a:ext cx="2377440" cy="20802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17720" y="607161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DEM build-up profile (Schefler &amp; Coetzee, 2023)</a:t>
            </a:r>
          </a:p>
        </p:txBody>
      </p:sp>
      <p:pic>
        <p:nvPicPr>
          <p:cNvPr id="14" name="Picture 13" descr="s8_table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155948"/>
            <a:ext cx="4663440" cy="1554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0" y="6071616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Table 9 — scale factor vs error; red = &gt; 10% = inaccurate (Rossow &amp; Coetzee, 2021)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EVIDENCE 5 — VIBRATORY FEEDING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Vibratory Feeders: Sorting, Segregation and a Design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evidence from the literature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3977639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What the figures show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DEM of an inclined vibrating plate reproduces the sorting experiment (You et al. 2018, Fig. 6)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Non-spherical test particles modelled as super-ellipsoids (sphere &amp; cube), mixed 1:1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Vibration frequency &amp; amplitude set the discharge order → structural segregation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Effective separation when (2πf)²A ≈ 1.5g — a usable design rule for scrap feeders</a:t>
            </a:r>
          </a:p>
        </p:txBody>
      </p:sp>
      <p:pic>
        <p:nvPicPr>
          <p:cNvPr id="8" name="Picture 7" descr="s9_de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934" y="1207008"/>
            <a:ext cx="5271610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7720" y="3328416"/>
            <a:ext cx="7178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Vibration sorting device — experiment &amp; DEM side by side (You et al., 2018, Fig. 6)</a:t>
            </a:r>
          </a:p>
        </p:txBody>
      </p:sp>
      <p:pic>
        <p:nvPicPr>
          <p:cNvPr id="10" name="Picture 9" descr="s9_dem_mode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896" y="3675887"/>
            <a:ext cx="1238726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6025896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DEM super-ellipsoid models: sphere &amp; cube (You et al., 2018)</a:t>
            </a:r>
          </a:p>
        </p:txBody>
      </p:sp>
      <p:pic>
        <p:nvPicPr>
          <p:cNvPr id="12" name="Picture 11" descr="s9_sort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871" y="3675887"/>
            <a:ext cx="2329976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37960" y="6025896"/>
            <a:ext cx="5257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Separation patterns on the plate — DEM (You et al., 2018)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EVIDENCE 5 — VIBRATORY FEEDING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Measuring Real Scrap Feeding: It Is Possible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evidence from the literature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3977639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What the figures show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Feature-point tracking (SuperPoint) measures feeding speed on real scrap — no object detection needed (Xiao et al. 2024)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Works despite heterogeneous types, sizes, stacking &amp; occlusion on the vibratory conveyor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On-site validation: measured speed curve matches the horizontal-vibrator frequency curve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→ a real industrial measurement target exists for validating our DEM feeding models</a:t>
            </a:r>
          </a:p>
        </p:txBody>
      </p:sp>
      <p:pic>
        <p:nvPicPr>
          <p:cNvPr id="8" name="Picture 7" descr="s10_fee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635" y="1207008"/>
            <a:ext cx="5002209" cy="18287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7720" y="3054096"/>
            <a:ext cx="7178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Real scrap on the vibratory feeder with tracked feature trajectories (Xiao et al., 2024)</a:t>
            </a:r>
          </a:p>
        </p:txBody>
      </p:sp>
      <p:pic>
        <p:nvPicPr>
          <p:cNvPr id="10" name="Picture 9" descr="s10_spe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533065"/>
            <a:ext cx="4160520" cy="14286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5111496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Feeding speed vs vibrator frequency — on-site data (Xiao et al., 2024)</a:t>
            </a:r>
          </a:p>
        </p:txBody>
      </p:sp>
      <p:pic>
        <p:nvPicPr>
          <p:cNvPr id="12" name="Picture 11" descr="s10_pipeli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3935026"/>
            <a:ext cx="2880360" cy="6247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5400" y="5111496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Method pipeline (Xiao et al., 2024)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EVIDENCE 6 — INTO THE FURNACE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After the Charge: Late Melting and “Steel Icebergs”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evidence from the literature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3977639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What the figures show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Scrap in the bath grows a solidified shell that agglomerates into “steel icebergs” — they dominate the final melting time (Li et al. 2008)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Porosity decides the regime: full iceberg → partial iceberg → independent melting (final melting time varies 3–4×)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The bath is virtually stagnant (thermal stratification); preheating &amp; stirring cut melting time sharply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→ an uneven, heterogeneous charge arrives wrong → late melting, tapping delays, energy spikes</a:t>
            </a:r>
          </a:p>
        </p:txBody>
      </p:sp>
      <p:pic>
        <p:nvPicPr>
          <p:cNvPr id="8" name="Picture 7" descr="s11_icebe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845" y="1207008"/>
            <a:ext cx="3135629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7720" y="351129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Final melting time vs porosity — iceberg regimes (Li et al., 2008, Fig. 2)</a:t>
            </a:r>
          </a:p>
        </p:txBody>
      </p:sp>
      <p:pic>
        <p:nvPicPr>
          <p:cNvPr id="10" name="Picture 9" descr="s11_meltti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601" y="1207008"/>
            <a:ext cx="3027317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66760" y="3511296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Effective melting time vs solid fraction &amp; bath temperature (Li et al., 2008)</a:t>
            </a:r>
          </a:p>
        </p:txBody>
      </p:sp>
      <p:pic>
        <p:nvPicPr>
          <p:cNvPr id="12" name="Picture 11" descr="s11_phasefiel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841" y="3858768"/>
            <a:ext cx="1760957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17720" y="60716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Phase-field melting evolution, 0 → 3393 s (Li et al., 2008, Fig. 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840480"/>
            <a:ext cx="4251960" cy="2468880"/>
          </a:xfrm>
          <a:prstGeom prst="roundRect">
            <a:avLst>
              <a:gd name="adj" fmla="val 4500"/>
            </a:avLst>
          </a:prstGeom>
          <a:solidFill>
            <a:srgbClr val="EAF4FB"/>
          </a:solidFill>
          <a:ln w="15240">
            <a:solidFill>
              <a:srgbClr val="00A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005072"/>
            <a:ext cx="3886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143B5C"/>
                </a:solidFill>
                <a:latin typeface="Calibri"/>
              </a:rPr>
              <a:t>Link to handling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Iceberg formation is driven by how the charge packs and settles — i.e. by the mechanical infeed we propose to model. Better, more uniform feeding → smaller, more uniform melting units → shorter, steadier heats.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EVIDENCE 6 — INTO THE FURNACE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EAF Melting: Mature &amp; Validated — the Infeed Is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evidence from the literature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3977639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3B5C"/>
                </a:solidFill>
                <a:latin typeface="Calibri"/>
              </a:rPr>
              <a:t>What the figures show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Fully 3-D integrated CFD: melting + collapse + arc + burners, in an industrial 150-t EAF (Chen et al. 2022)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2B2B2B"/>
                </a:solidFill>
                <a:latin typeface="Calibri"/>
              </a:rPr>
              <a:t>Scrap enters as a lumped stack input (dual-cell / stack approach) — its mechanical history is not resolved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Validated against plant data (electrode behaviour, pit diameter: shredded &amp; busheling)</a:t>
            </a:r>
          </a:p>
          <a:p>
            <a:pPr marL="0">
              <a:lnSpc>
                <a:spcPct val="106000"/>
              </a:lnSpc>
              <a:spcAft>
                <a:spcPts val="7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•  </a:t>
            </a:r>
            <a:r>
              <a:rPr sz="1050" b="1" i="0">
                <a:solidFill>
                  <a:srgbClr val="2B2B2B"/>
                </a:solidFill>
                <a:latin typeface="Calibri"/>
              </a:rPr>
              <a:t>→ melting is the strong half; the mechanical infeed upstream is the missing half</a:t>
            </a:r>
          </a:p>
        </p:txBody>
      </p:sp>
      <p:pic>
        <p:nvPicPr>
          <p:cNvPr id="8" name="Picture 7" descr="s12_eaf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038" y="1207008"/>
            <a:ext cx="2971242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17720" y="3511296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3-D EAF model: electrodes, scrap pile, coherent jet burner, hot heel (Chen et al., 2022)</a:t>
            </a:r>
          </a:p>
        </p:txBody>
      </p:sp>
      <p:pic>
        <p:nvPicPr>
          <p:cNvPr id="10" name="Picture 9" descr="s12_dualce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709" y="1207008"/>
            <a:ext cx="1953101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66760" y="3511296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Dual-cell (stack) approach for melting &amp; collapse (Chen et al., 2022)</a:t>
            </a:r>
          </a:p>
        </p:txBody>
      </p:sp>
      <p:pic>
        <p:nvPicPr>
          <p:cNvPr id="12" name="Picture 11" descr="s12_sequen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806" y="3858768"/>
            <a:ext cx="3808347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17720" y="6071616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Melting &amp; collapse of the second bucket (Chen et al., 2022)</a:t>
            </a:r>
          </a:p>
        </p:txBody>
      </p:sp>
      <p:pic>
        <p:nvPicPr>
          <p:cNvPr id="14" name="Picture 13" descr="s12_pi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4079481"/>
            <a:ext cx="2880360" cy="175313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15400" y="6071616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Validation: measured vs simulated pit diameter (Chen et al., 2022)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CONCLUSION — THE GAP &amp; THE PHD PROJECT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Both Ends Are Mature — the Infeed Interface Is Missing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evidence from the literature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s13_ap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88955"/>
            <a:ext cx="3977639" cy="32308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4974336"/>
            <a:ext cx="397763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DEM applications across industry — bulk handling is everywhere (Zhong et al., 2016, Fig. 1)</a:t>
            </a:r>
          </a:p>
        </p:txBody>
      </p:sp>
      <p:pic>
        <p:nvPicPr>
          <p:cNvPr id="9" name="Picture 8" descr="s13_bucke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654" y="1252728"/>
            <a:ext cx="6270171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7720" y="4974336"/>
            <a:ext cx="7178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6B6B6B"/>
                </a:solidFill>
                <a:latin typeface="Calibri"/>
              </a:rPr>
              <a:t>Charge buckets enter the furnace as discrete, structured inputs (Chen et al., 2022)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440680"/>
            <a:ext cx="3675887" cy="960120"/>
          </a:xfrm>
          <a:prstGeom prst="roundRect">
            <a:avLst>
              <a:gd name="adj" fmla="val 4500"/>
            </a:avLst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5522976"/>
            <a:ext cx="34198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1000" b="1" i="0">
                <a:solidFill>
                  <a:srgbClr val="143B5C"/>
                </a:solidFill>
                <a:latin typeface="Calibri"/>
              </a:rPr>
              <a:t>Conveyor / chute DEM  —  </a:t>
            </a:r>
            <a:r>
              <a:rPr sz="900" b="0" i="0">
                <a:solidFill>
                  <a:srgbClr val="2B2B2B"/>
                </a:solidFill>
                <a:latin typeface="Calibri"/>
              </a:rPr>
              <a:t>mature, calibrated, validated (Rossow 2021; Schefler 2023; You 2018)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6531" y="5440680"/>
            <a:ext cx="3675887" cy="960120"/>
          </a:xfrm>
          <a:prstGeom prst="roundRect">
            <a:avLst>
              <a:gd name="adj" fmla="val 4500"/>
            </a:avLst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4547" y="5522976"/>
            <a:ext cx="34198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1000" b="1" i="0">
                <a:solidFill>
                  <a:srgbClr val="143B5C"/>
                </a:solidFill>
                <a:latin typeface="Calibri"/>
              </a:rPr>
              <a:t>EAF melting CFD  —  </a:t>
            </a:r>
            <a:r>
              <a:rPr sz="900" b="0" i="0">
                <a:solidFill>
                  <a:srgbClr val="2B2B2B"/>
                </a:solidFill>
                <a:latin typeface="Calibri"/>
              </a:rPr>
              <a:t>mature, industrially validated (Chen 2022; Li 2008)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5440680"/>
            <a:ext cx="3675887" cy="960120"/>
          </a:xfrm>
          <a:prstGeom prst="roundRect">
            <a:avLst>
              <a:gd name="adj" fmla="val 4500"/>
            </a:avLst>
          </a:prstGeom>
          <a:solidFill>
            <a:srgbClr val="14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5522976"/>
            <a:ext cx="34198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Heterogeneous scrap infeed  —  </a:t>
            </a:r>
            <a:r>
              <a:rPr sz="900" b="0" i="0">
                <a:solidFill>
                  <a:srgbClr val="D9EEFB"/>
                </a:solidFill>
                <a:latin typeface="Calibri"/>
              </a:rPr>
              <a:t>the missing link — size, shape, density, chemistry, real-time segregation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A4E4"/>
                </a:solidFill>
                <a:latin typeface="Calibri"/>
              </a:rPr>
              <a:t>SUPPORTING LITERATURE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3B5C"/>
                </a:solidFill>
                <a:latin typeface="Calibri"/>
              </a:rPr>
              <a:t>Figure Sources (papers in the repository)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969264"/>
            <a:ext cx="1234440" cy="41148"/>
          </a:xfrm>
          <a:prstGeom prst="rect">
            <a:avLst/>
          </a:prstGeom>
          <a:solidFill>
            <a:srgbClr val="00A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65992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5562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6B6B6B"/>
                </a:solidFill>
                <a:latin typeface="Calibri"/>
              </a:rPr>
              <a:t>Particle-Based Modelling of Scrap Handling  •  evidence from the literature  •  TU Delft × Tata Steel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8046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57784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[1]  Lu G., Third J.R., Müller C.R. (2015). Discrete element models for non-spherical particle systems: from theoretical developments to applications. Chemical Engineering Science 127: 425–465. — Figs 1, 3, 6, 14, 32, 4b, Eq. 16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[2]  Rossow J., Coetzee C.J. (2021). Discrete element modelling of a chevron patterned conveyor belt and a transfer chute. Powder Technology 391: 77–96. — Figs 1, 3, 8, 10, 13, 21, Table 9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[3]  Schefler O.C., Coetzee C.J. (2023). Discrete element modelling of a bulk cohesive material discharging from a conveyor belt onto an impact plate. Minerals 13(12): 1501. — discharge, build-up &amp; DEM profile figures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[4]  You Y., Liu M., Ma H., et al. (2018). Investigation of the vibration sorting of non-spherical particles based on DEM simulation. Powder Technology. doi:10.1016/j.powtec.2017.11.002 — Figs 6, super-ellipsoids, sorting patterns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[5]  Xiao X., Zhong X., Ma M., Wu X. (2024). A visual based algorithm for measuring the speed of scrap metal vibration feeding. CSAE 2024 (ACM). doi:10.1145/3704814.3704817 — feeder tracking, speed curve, pipeline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[6]  Li J., Provatas N., Irons G.A. (2008). Modelling of late melting of scrap in an EAF. AISTech 2008, Irons A8046. — Figs 1, 2, melting-time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234440"/>
            <a:ext cx="557784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[7]  Chen Y., Ryan S., Silaen A.K., Zhou C.Q. (2022). Simulation of scrap melting process in an AC electric arc furnace: CFD model development and experimental validation. Metall. Mater. Trans. B 53: 3256–3272. — 3-D model, dual-cell, sequence, pit validation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[8]  Zhong W., Yu A., Liu X., Tong Z., Zhang H. (2016). DEM/CFD-DEM modelling of non-spherical particulate systems: theoretical developments and applications. Powder Technology 300: 109–127. — Figs 1, 20, 45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[9]  Kryszak D., Bartoszewicz A., Szufa S., Piersa P., Obraniak A., Olejnik T.P. (2020). Modelling of transport of loose products with the use of the non-grid method of discrete elements (DEM). Processes 8(11): 1489. — force spectra on conveyed product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[10] Garg R., Galvin J., Li T., Pannala S. (2012). Documentation of open-source MFIX-DEM software for gas-solids flows. NETL/ORNL.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[11] Kozicki J., Tejchman J. (2005). Application of a cellular automaton to simulations of granular flow in silos. Granular Matter 7: 45–54.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850" b="0" i="0">
                <a:solidFill>
                  <a:srgbClr val="2B2B2B"/>
                </a:solidFill>
                <a:latin typeface="Calibri"/>
              </a:rPr>
              <a:t>[12] Ahmed H., Pang Y., Adema A., et al. (2026). Industrial-scale DEM modelling of segregation in the blast furnace charging system (Tata Steel IJmuiden). Powder Technology.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2725</TotalTime>
  <Words>13</Words>
  <Application>Microsoft Macintosh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Franklin Gothic Book</vt:lpstr>
      <vt:lpstr>Crop</vt:lpstr>
      <vt:lpstr>Phd thesis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Tongue Kevin</dc:creator>
  <cp:lastModifiedBy>Tongue Kevin</cp:lastModifiedBy>
  <cp:revision>3</cp:revision>
  <dcterms:created xsi:type="dcterms:W3CDTF">2026-09-15T09:22:19Z</dcterms:created>
  <dcterms:modified xsi:type="dcterms:W3CDTF">2026-09-17T06:48:08Z</dcterms:modified>
</cp:coreProperties>
</file>
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10"/>
    <p:sldId id="260" r:id="rId11"/>
    <p:sldId id="261" r:id="rId12"/>
    <p:sldId id="262" r:id="rId13"/>
    <p:sldId id="263" r:id="rId14"/>
    <p:sldId id="264" r:id="rId15"/>
    <p:sldId id="265" r:id="rId16"/>
    <p:sldId id="266" r:id="rId17"/>
    <p:sldId id="267"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32"/>
    <p:restoredTop sz="94658"/>
  </p:normalViewPr>
  <p:slideViewPr>
    <p:cSldViewPr snapToGrid="0">
      <p:cViewPr varScale="1">
        <p:scale>
          <a:sx n="99" d="100"/>
          <a:sy n="99" d="100"/>
        </p:scale>
        <p:origin x="192" y="6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1:45]</a:t>
            </a:r>
          </a:p>
          <a:p>
            <a:r>
              <a:t>"Our agenda today directly addresses the key requirements: First, the core mechanics of DEM applied to conveyor systems; second, the state of the art and literature gaps; third, my explicit research methodology and anticipated challenges; and finally, a personal reflection on my competencies."</a:t>
            </a:r>
          </a:p>
          <a:p/>
          <a:p>
            <a:r>
              <a:t>Slide notes: the four agenda items map 1:1 to the four topics requested for the interview (see planning.md, Topics 1-4).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 3:15]</a:t>
            </a:r>
          </a:p>
          <a:p>
            <a:r>
              <a:t>"Let's begin with the fundamental physics. The Discrete Element Method operates by tracking individual particles via Newton's laws of motion. In industrial scrap yards, particles are highly non-spherical. To capture realistic friction and interlocking behaviour, I will employ Multi-Sphere models or Polyhedral elements. While spheres are computationally cheap, they roll too easily. We must account for the high aspect ratios and sharp edges typical of steel scrap to accurately simulate structural bridging and interlocking."</a:t>
            </a:r>
          </a:p>
          <a:p/>
          <a:p>
            <a:r>
              <a:t>Slide notes: right column shows (top) the 3D super-quadric shape family from Lu et al. (2015) Fig. 6 — blockiness parameters ε1/ε2 sweep from rounded to blocky; (bottom) their implicit equation (16) and Fig. 4b contact-region approximation. Emphasise: for scrap we will mainly use multi-sphere clusters built from 3D scans (robust + fast contact detection), with super-quadrics/polyhedra where smooth/angular fidelity matters. Contact detection can take &gt;80% of CPU time, so the choice of representation is a compute decision, not just a physics decision.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 – 4:45]</a:t>
            </a:r>
          </a:p>
          <a:p>
            <a:r>
              <a:t>"When bulk scrap transfers from a conveyor belt to an EAF infeed chute, it undergoes severe dynamic stress. By solving the contact force equations at moving boundaries, our model will simulate wall friction, boundary velocity distributions, and impact energy. On vibratory feeders, the frequency and amplitude of the bed dictate particle acceleration. DEM allows us to isolate how different frequencies cause structural segregation, ensuring we can predict which particles discharge first and where the mechanical wear on the hopper liners will be most severe."</a:t>
            </a:r>
          </a:p>
          <a:p/>
          <a:p>
            <a:r>
              <a:t>Slide notes: cite Rossow &amp; Coetzee (chevron belt + chute, high-speed validation, upscaling limit 1.6) and Schefler &amp; Coetzee (cohesive discharge, &lt;15% error) as the mature modelling base; You et al. as the vibration-segregation evidence; Xiao et al. as proof that real scrap-feeding measurement exists today (vision-based) — our models can be validated against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 – 6:15]</a:t>
            </a:r>
          </a:p>
          <a:p>
            <a:r>
              <a:t>"Reviewing the current state of the art shows a significant disconnect. Excellent DEM models exist for blast furnace charging — such as research calibrated at Tata Steel IJmuiden — but these focus on uniform materials like iron ore pellets. Conversely, current EAF literature focuses heavily on the thermodynamic and CFD chemical melting inside the furnace, completely neglecting the mechanical bulk flow of raw scrap before it enters the liquid bath. There is a profound lack of physical particle tracking models for heterogeneous scrap recipes."</a:t>
            </a:r>
          </a:p>
          <a:p/>
          <a:p>
            <a:r>
              <a:t>Slide notes: table walks top→bottom: reviews (Lu 2015, Zhong 2016) → industrial BF charging at Tata Steel IJmuiden (Ahmed et al. 2026) → conveyor/chute DEM validation studies (Rossow 2021, Schefler 2023, You 2018) → EAF melting models (Chen 2022, Li 2008). Close on the bottom strip: both halves are mature, the interface is not.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[6:15 – 7:30]</a:t>
            </a:r>
          </a:p>
          <a:p>
            <a:r>
              <a:t>"This brings us to the two key knowledge gaps this PhD will bridge. First, how do we model a bulk material stream that is structurally heterogeneous, ranging from lightweight shredded metal to massive, dense heavy melting scrap bundles? Second, how does this heterogeneity trigger material segregation during continuous charging? If fine scrap blocks the chute or heavy bundles drop unpredictably, it causes thermal imbalances and massive energy spikes in the EAF."</a:t>
            </a:r>
          </a:p>
          <a:p/>
          <a:p>
            <a:r>
              <a:t>Slide notes: the three secondary gaps come from the literature review (see LeapSpace summary in the repo): coupling of handling &amp; furnace physics; realistic scrap shape &amp; packing; charge dynamics during delivery; validation with industrial scrap; multiphysics at the charge surface. Tie Gap 2 to Li et al. 2008: late/iceberg melting is exactly what happens when the charge arrives wrong.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[7:30 – 9:00]</a:t>
            </a:r>
          </a:p>
          <a:p>
            <a:r>
              <a:t>"To address these gaps, my proposed 4-year research plan is structured systematically. Year 1 focuses on mathematical code development and baseline shape characterisation. Year 2 will integrate industrial data sets from Tata Steel Netherlands to calibrate our virtual materials. Year 3 will focus on simulating various charging recipes and sequence optimisation. Year 4 will translate these computational models into practical, actionable rules for industrial plant engineers."</a:t>
            </a:r>
          </a:p>
          <a:p/>
          <a:p>
            <a:r>
              <a:t>Slide notes: Y1 = Lu/Zhong shape representations + lab calibration suite; Y2 = Tata Steel NL data + validation (Rossow-style high-speed footage, Xiao-style vision measurement); Y3 = recipe optimisation incl. segregation; Y4 = digital twin + recommendations. Emphasise the artefact-per-year discipline.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 – 10:30]</a:t>
            </a:r>
          </a:p>
          <a:p>
            <a:r>
              <a:t>"The greatest anticipated challenge in this project is scale and computation time. Simulating millions of unique scrap fragments down to the millimetre scale is computationally impossible. My strategy involves coarse-graining / upscaling methodologies. We will cluster smaller particles into representative numerical equivalents. We will then perform laboratory-scale calibration experiments — such as angle of repose and pouring tests — to adjust rolling friction coefficients until the virtual scrap pile matches the behaviour of the real physical material."</a:t>
            </a:r>
          </a:p>
          <a:p/>
          <a:p>
            <a:r>
              <a:t>Slide notes: the 4-step loop is the core methodological claim. Quote the numbers: Rossow &amp; Coetzee max scale factor 1.6 (errors ≤10%); Schefler &amp; Coetzee — scale limit is geometric to the measured quantity; container/particle ≥ 8–10:1 for negligible wall effects. This is the 'industrially calibrated simulation' that separates this project from idealised spherical-particle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[10:30 – 11:45]</a:t>
            </a:r>
          </a:p>
          <a:p>
            <a:r>
              <a:t>"The true core novelty of this PhD project is the creation of an industrially validated Digital Twin for multi-property scrap flows. We are moving away from treating raw materials as uniform rocks. Instead, this framework will allow Tata Steel to test new, cheaper scrap recipes virtually, optimising discharge sequences to guarantee smooth, continuous feeding. The direct outcomes will be a measurable reduction in mechanical wear on handling infrastructure and optimised energy efficiency during EAF startup phases."</a:t>
            </a:r>
          </a:p>
          <a:p/>
          <a:p>
            <a:r>
              <a:t>Slide notes: novelty = multi-scale + multi-property + industrial (three words to remember). Deliverables map to the interview's 'industrial value' expectation: twin (asset), sequence optimisation (process gain), energy/wear (money).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[11:45 – 13:15]</a:t>
            </a:r>
          </a:p>
          <a:p>
            <a:r>
              <a:t>"Why am I the right candidate for this specific project? My academic training has provided me with a robust foundation in granular physics, continuum mechanics, and numerical programming. I have practical experience handling large data arrays and translating raw physical phenomena into structural code. Furthermore, I am deeply familiar with modern engineering simulation frameworks and possess the hands-on laboratory discipline required to design and execute validation experiments that will make our virtual models reliable."</a:t>
            </a:r>
          </a:p>
          <a:p/>
          <a:p>
            <a:r>
              <a:t>Slide notes: be ready to name the exact tools you have touched (EDEM/Rocky/LIGGGHTS/MFIX-DEM) and the exact experiments you can run (AOR, drop, draw-down, mass flow). The open-source angle shows cost awareness for a 4-year industrial PhD.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[13:15 – 14:15]</a:t>
            </a:r>
          </a:p>
          <a:p>
            <a:r>
              <a:t>"Beyond technical software skills, a project backed by Tata Steel requires strong project management and cross-functional communication. I pride myself on being able to translate dense academic data into clear, operational value for plant operations. I am eager to collaborate directly with industrial engineers in the Netherlands, gathering on-site data and ensuring that my doctoral research delivers highly practical, bottom-line improvements to the steelmaking process."</a:t>
            </a:r>
          </a:p>
          <a:p/>
          <a:p>
            <a:r>
              <a:t>Slide notes: this is a values slide, not a CV. Name-drop the IJmuiden site and the green-steel context (HBI + scrap, hydrogen-based route) to show you know what the partner is building.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[14:15 – 15:00]</a:t>
            </a:r>
          </a:p>
          <a:p>
            <a:r>
              <a:t>"In conclusion, this project represents a vital step toward making continuous EAF furnace feeding more predictable, energy-efficient, and physically stable. By mastering non-spherical particle mechanics, bridging the literature gap in scrap handling, and applying rigorous coarse-graining calibration, this research will provide invaluable tools for Tata Steel Netherlands. Thank you for your time, and I welcome any questions you may have."</a:t>
            </a:r>
          </a:p>
          <a:p/>
          <a:p>
            <a:r>
              <a:t>Anticipated questions to prepare: (1) Why multi-sphere instead of polyhedra/voxels for scrap? → contact-detection cost &gt;80% CPU, robustness, existing EDEM support. (2) How do you validate at industrial scale? → high-speed video, load cells, vision-based feeder speed (Xiao et al.), mass balance. (3) What if upscaling breaks? → per-quantity scale limits (Rossow/Schefler), hybrid AVM+IFM-style strategy. (4) HBI relevance to Tata's green steel route.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list — no speaking time. References [1]–[11] have full PDFs in the 'papers/particles-based models' folder of the project repository; [12]–[14] are the additional state-of-the-art sources from the literature plan (planning.md).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1:00]</a:t>
            </a:r>
          </a:p>
          <a:p>
            <a:r>
              <a:t>"Good morning, everyone. Today, I am excited to present my research proposal for developing an advanced particle-based modelling framework for optimising scrap handling systems. In the next 15 minutes, I will walk you through the fundamental theory of the Discrete Element Method (DEM), the critical knowledge gaps in EAF scrap feeding, my proposed 4-year methodology, and how my technical background aligns with Tata Steel's operational goals."</a:t>
            </a:r>
          </a:p>
          <a:p/>
          <a:p>
            <a:r>
              <a:t>Slide notes: keep the opening short and confident; make eye contact; the committee values time management — this deck is timed for exactly 15 minutes of speaking (slides 2–12), with the reference slide [13] as backup.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9/15/26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FR"/>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FR"/>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9/15/26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9/15/26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9/15/26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9/15/26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9/15/26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GB"/>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9/15/26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9/15/26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9/15/26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A1297-67BB-EAD1-1AE9-5B26DDBB7E44}"/>
              </a:ext>
            </a:extLst>
          </p:cNvPr>
          <p:cNvSpPr>
            <a:spLocks noGrp="1"/>
          </p:cNvSpPr>
          <p:nvPr>
            <p:ph type="ctrTitle"/>
          </p:nvPr>
        </p:nvSpPr>
        <p:spPr/>
        <p:txBody>
          <a:bodyPr/>
          <a:lstStyle/>
          <a:p>
            <a:r>
              <a:rPr lang="en-FR" dirty="0"/>
              <a:t>Phd thesis</a:t>
            </a:r>
          </a:p>
        </p:txBody>
      </p:sp>
      <p:sp>
        <p:nvSpPr>
          <p:cNvPr id="3" name="Subtitle 2">
            <a:extLst>
              <a:ext uri="{FF2B5EF4-FFF2-40B4-BE49-F238E27FC236}">
                <a16:creationId xmlns:a16="http://schemas.microsoft.com/office/drawing/2014/main" id="{B292EB9E-A6E0-88E0-705E-F5EC452F5B52}"/>
              </a:ext>
            </a:extLst>
          </p:cNvPr>
          <p:cNvSpPr>
            <a:spLocks noGrp="1"/>
          </p:cNvSpPr>
          <p:nvPr>
            <p:ph type="subTitle" idx="1"/>
          </p:nvPr>
        </p:nvSpPr>
        <p:spPr/>
        <p:txBody>
          <a:bodyPr/>
          <a:lstStyle/>
          <a:p>
            <a:r>
              <a:rPr lang="en-FR" dirty="0"/>
              <a:t>Particle Based Modelling of Scrap Handling for Green Steel Production</a:t>
            </a:r>
          </a:p>
          <a:p>
            <a:endParaRPr lang="en-FR" dirty="0"/>
          </a:p>
        </p:txBody>
      </p:sp>
      <p:pic>
        <p:nvPicPr>
          <p:cNvPr id="7" name="Picture 6">
            <a:extLst>
              <a:ext uri="{FF2B5EF4-FFF2-40B4-BE49-F238E27FC236}">
                <a16:creationId xmlns:a16="http://schemas.microsoft.com/office/drawing/2014/main" id="{DF8BD64C-A677-9742-DDED-E5F5047FC89C}"/>
              </a:ext>
            </a:extLst>
          </p:cNvPr>
          <p:cNvPicPr>
            <a:picLocks noChangeAspect="1"/>
          </p:cNvPicPr>
          <p:nvPr/>
        </p:nvPicPr>
        <p:blipFill>
          <a:blip r:embed="rId2"/>
          <a:stretch>
            <a:fillRect/>
          </a:stretch>
        </p:blipFill>
        <p:spPr>
          <a:xfrm>
            <a:off x="9511579" y="0"/>
            <a:ext cx="2046125" cy="1719445"/>
          </a:xfrm>
          <a:prstGeom prst="rect">
            <a:avLst/>
          </a:prstGeom>
        </p:spPr>
      </p:pic>
      <p:pic>
        <p:nvPicPr>
          <p:cNvPr id="8" name="Picture 7">
            <a:extLst>
              <a:ext uri="{FF2B5EF4-FFF2-40B4-BE49-F238E27FC236}">
                <a16:creationId xmlns:a16="http://schemas.microsoft.com/office/drawing/2014/main" id="{57B97F0D-6FDE-8B09-9B00-8EA62A632ADB}"/>
              </a:ext>
            </a:extLst>
          </p:cNvPr>
          <p:cNvPicPr>
            <a:picLocks noChangeAspect="1"/>
          </p:cNvPicPr>
          <p:nvPr/>
        </p:nvPicPr>
        <p:blipFill>
          <a:blip r:embed="rId3"/>
          <a:stretch>
            <a:fillRect/>
          </a:stretch>
        </p:blipFill>
        <p:spPr>
          <a:xfrm>
            <a:off x="5342943" y="-340117"/>
            <a:ext cx="4933414" cy="2656075"/>
          </a:xfrm>
          <a:prstGeom prst="rect">
            <a:avLst/>
          </a:prstGeom>
        </p:spPr>
      </p:pic>
    </p:spTree>
    <p:extLst>
      <p:ext uri="{BB962C8B-B14F-4D97-AF65-F5344CB8AC3E}">
        <p14:creationId xmlns:p14="http://schemas.microsoft.com/office/powerpoint/2010/main" val="3329076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43EE9-CEC9-0931-5474-22705F201117}"/>
              </a:ext>
            </a:extLst>
          </p:cNvPr>
          <p:cNvSpPr>
            <a:spLocks noGrp="1"/>
          </p:cNvSpPr>
          <p:nvPr>
            <p:ph type="title"/>
          </p:nvPr>
        </p:nvSpPr>
        <p:spPr/>
        <p:txBody>
          <a:bodyPr/>
          <a:lstStyle/>
          <a:p>
            <a:r>
              <a:rPr lang="en-FR" dirty="0"/>
              <a:t/>
            </a:r>
            <a:r>
              <a:rPr sz="3000" b="1" i="0">
                <a:solidFill>
                  <a:srgbClr val="143B5C"/>
                </a:solidFill>
                <a:latin typeface="Calibri"/>
              </a:rPr>
              <a:t>Agenda</a:t>
            </a:r>
          </a:p>
        </p:txBody>
      </p:sp>
      <p:sp>
        <p:nvSpPr>
          <p:cNvPr id="3" name="Oval 2"/>
          <p:cNvSpPr/>
          <p:nvPr/>
        </p:nvSpPr>
        <p:spPr>
          <a:xfrm>
            <a:off x="502920" y="1417320"/>
            <a:ext cx="566928" cy="566928"/>
          </a:xfrm>
          <a:prstGeom prst="ellipse">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i="0">
                <a:solidFill>
                  <a:srgbClr val="FFFFFF"/>
                </a:solidFill>
                <a:latin typeface="Calibri"/>
              </a:rPr>
              <a:t>1</a:t>
            </a:r>
          </a:p>
        </p:txBody>
      </p:sp>
      <p:sp>
        <p:nvSpPr>
          <p:cNvPr id="4" name="TextBox 3"/>
          <p:cNvSpPr txBox="1"/>
          <p:nvPr/>
        </p:nvSpPr>
        <p:spPr>
          <a:xfrm>
            <a:off x="1371600" y="1380744"/>
            <a:ext cx="10241280" cy="868680"/>
          </a:xfrm>
          <a:prstGeom prst="rect">
            <a:avLst/>
          </a:prstGeom>
          <a:noFill/>
        </p:spPr>
        <p:txBody>
          <a:bodyPr wrap="square" lIns="0" rIns="0" tIns="0" bIns="0">
            <a:spAutoFit/>
          </a:bodyPr>
          <a:lstStyle/>
          <a:p>
            <a:pPr algn="l">
              <a:lnSpc>
                <a:spcPct val="100000"/>
              </a:lnSpc>
              <a:spcBef>
                <a:spcPts val="0"/>
              </a:spcBef>
              <a:spcAft>
                <a:spcPts val="200"/>
              </a:spcAft>
            </a:pPr>
            <a:r>
              <a:rPr sz="1700" b="1" i="0">
                <a:solidFill>
                  <a:srgbClr val="143B5C"/>
                </a:solidFill>
                <a:latin typeface="Calibri"/>
              </a:rPr>
              <a:t>Theory of particle-based models (DEM) &amp; conveyor systems</a:t>
            </a:r>
          </a:p>
          <a:p>
            <a:pPr algn="l">
              <a:lnSpc>
                <a:spcPct val="100000"/>
              </a:lnSpc>
              <a:spcBef>
                <a:spcPts val="0"/>
              </a:spcBef>
              <a:spcAft>
                <a:spcPts val="400"/>
              </a:spcAft>
            </a:pPr>
            <a:r>
              <a:rPr sz="1150" b="0" i="0">
                <a:solidFill>
                  <a:srgbClr val="6B6B6B"/>
                </a:solidFill>
                <a:latin typeface="Calibri"/>
              </a:rPr>
              <a:t>Non-spherical shape representation • contact mechanics • belt / chute / vibratory-feeder kinematics</a:t>
            </a:r>
          </a:p>
        </p:txBody>
      </p:sp>
      <p:sp>
        <p:nvSpPr>
          <p:cNvPr id="5" name="Oval 4"/>
          <p:cNvSpPr/>
          <p:nvPr/>
        </p:nvSpPr>
        <p:spPr>
          <a:xfrm>
            <a:off x="502920" y="2587752"/>
            <a:ext cx="566928" cy="566928"/>
          </a:xfrm>
          <a:prstGeom prst="ellipse">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i="0">
                <a:solidFill>
                  <a:srgbClr val="FFFFFF"/>
                </a:solidFill>
                <a:latin typeface="Calibri"/>
              </a:rPr>
              <a:t>2</a:t>
            </a:r>
          </a:p>
        </p:txBody>
      </p:sp>
      <p:sp>
        <p:nvSpPr>
          <p:cNvPr id="6" name="TextBox 5"/>
          <p:cNvSpPr txBox="1"/>
          <p:nvPr/>
        </p:nvSpPr>
        <p:spPr>
          <a:xfrm>
            <a:off x="1371600" y="2551176"/>
            <a:ext cx="10241280" cy="868680"/>
          </a:xfrm>
          <a:prstGeom prst="rect">
            <a:avLst/>
          </a:prstGeom>
          <a:noFill/>
        </p:spPr>
        <p:txBody>
          <a:bodyPr wrap="square" lIns="0" rIns="0" tIns="0" bIns="0">
            <a:spAutoFit/>
          </a:bodyPr>
          <a:lstStyle/>
          <a:p>
            <a:pPr algn="l">
              <a:lnSpc>
                <a:spcPct val="100000"/>
              </a:lnSpc>
              <a:spcBef>
                <a:spcPts val="0"/>
              </a:spcBef>
              <a:spcAft>
                <a:spcPts val="200"/>
              </a:spcAft>
            </a:pPr>
            <a:r>
              <a:rPr sz="1700" b="1" i="0">
                <a:solidFill>
                  <a:srgbClr val="143B5C"/>
                </a:solidFill>
                <a:latin typeface="Calibri"/>
              </a:rPr>
              <a:t>State of the art &amp; knowledge gaps in scrap / EAF modelling</a:t>
            </a:r>
          </a:p>
          <a:p>
            <a:pPr algn="l">
              <a:lnSpc>
                <a:spcPct val="100000"/>
              </a:lnSpc>
              <a:spcBef>
                <a:spcPts val="0"/>
              </a:spcBef>
              <a:spcAft>
                <a:spcPts val="400"/>
              </a:spcAft>
            </a:pPr>
            <a:r>
              <a:rPr sz="1150" b="0" i="0">
                <a:solidFill>
                  <a:srgbClr val="6B6B6B"/>
                </a:solidFill>
                <a:latin typeface="Calibri"/>
              </a:rPr>
              <a:t>Where the literature stands today — and what it has not solved</a:t>
            </a:r>
          </a:p>
        </p:txBody>
      </p:sp>
      <p:sp>
        <p:nvSpPr>
          <p:cNvPr id="7" name="Oval 6"/>
          <p:cNvSpPr/>
          <p:nvPr/>
        </p:nvSpPr>
        <p:spPr>
          <a:xfrm>
            <a:off x="502920" y="3758184"/>
            <a:ext cx="566928" cy="566928"/>
          </a:xfrm>
          <a:prstGeom prst="ellipse">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i="0">
                <a:solidFill>
                  <a:srgbClr val="FFFFFF"/>
                </a:solidFill>
                <a:latin typeface="Calibri"/>
              </a:rPr>
              <a:t>3</a:t>
            </a:r>
          </a:p>
        </p:txBody>
      </p:sp>
      <p:sp>
        <p:nvSpPr>
          <p:cNvPr id="8" name="TextBox 7"/>
          <p:cNvSpPr txBox="1"/>
          <p:nvPr/>
        </p:nvSpPr>
        <p:spPr>
          <a:xfrm>
            <a:off x="1371600" y="3721608"/>
            <a:ext cx="10241280" cy="868680"/>
          </a:xfrm>
          <a:prstGeom prst="rect">
            <a:avLst/>
          </a:prstGeom>
          <a:noFill/>
        </p:spPr>
        <p:txBody>
          <a:bodyPr wrap="square" lIns="0" rIns="0" tIns="0" bIns="0">
            <a:spAutoFit/>
          </a:bodyPr>
          <a:lstStyle/>
          <a:p>
            <a:pPr algn="l">
              <a:lnSpc>
                <a:spcPct val="100000"/>
              </a:lnSpc>
              <a:spcBef>
                <a:spcPts val="0"/>
              </a:spcBef>
              <a:spcAft>
                <a:spcPts val="200"/>
              </a:spcAft>
            </a:pPr>
            <a:r>
              <a:rPr sz="1700" b="1" i="0">
                <a:solidFill>
                  <a:srgbClr val="143B5C"/>
                </a:solidFill>
                <a:latin typeface="Calibri"/>
              </a:rPr>
              <a:t>Methodology, novelty &amp; anticipated challenges</a:t>
            </a:r>
          </a:p>
          <a:p>
            <a:pPr algn="l">
              <a:lnSpc>
                <a:spcPct val="100000"/>
              </a:lnSpc>
              <a:spcBef>
                <a:spcPts val="0"/>
              </a:spcBef>
              <a:spcAft>
                <a:spcPts val="400"/>
              </a:spcAft>
            </a:pPr>
            <a:r>
              <a:rPr sz="1150" b="0" i="0">
                <a:solidFill>
                  <a:srgbClr val="6B6B6B"/>
                </a:solidFill>
                <a:latin typeface="Calibri"/>
              </a:rPr>
              <a:t>4-year research plan • coarse-graining calibration strategy • project novelty</a:t>
            </a:r>
          </a:p>
        </p:txBody>
      </p:sp>
      <p:sp>
        <p:nvSpPr>
          <p:cNvPr id="9" name="Oval 8"/>
          <p:cNvSpPr/>
          <p:nvPr/>
        </p:nvSpPr>
        <p:spPr>
          <a:xfrm>
            <a:off x="502920" y="4928616"/>
            <a:ext cx="566928" cy="566928"/>
          </a:xfrm>
          <a:prstGeom prst="ellipse">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i="0">
                <a:solidFill>
                  <a:srgbClr val="FFFFFF"/>
                </a:solidFill>
                <a:latin typeface="Calibri"/>
              </a:rPr>
              <a:t>4</a:t>
            </a:r>
          </a:p>
        </p:txBody>
      </p:sp>
      <p:sp>
        <p:nvSpPr>
          <p:cNvPr id="10" name="TextBox 9"/>
          <p:cNvSpPr txBox="1"/>
          <p:nvPr/>
        </p:nvSpPr>
        <p:spPr>
          <a:xfrm>
            <a:off x="1371600" y="4892040"/>
            <a:ext cx="10241280" cy="868680"/>
          </a:xfrm>
          <a:prstGeom prst="rect">
            <a:avLst/>
          </a:prstGeom>
          <a:noFill/>
        </p:spPr>
        <p:txBody>
          <a:bodyPr wrap="square" lIns="0" rIns="0" tIns="0" bIns="0">
            <a:spAutoFit/>
          </a:bodyPr>
          <a:lstStyle/>
          <a:p>
            <a:pPr algn="l">
              <a:lnSpc>
                <a:spcPct val="100000"/>
              </a:lnSpc>
              <a:spcBef>
                <a:spcPts val="0"/>
              </a:spcBef>
              <a:spcAft>
                <a:spcPts val="200"/>
              </a:spcAft>
            </a:pPr>
            <a:r>
              <a:rPr sz="1700" b="1" i="0">
                <a:solidFill>
                  <a:srgbClr val="143B5C"/>
                </a:solidFill>
                <a:latin typeface="Calibri"/>
              </a:rPr>
              <a:t>Skills, competencies &amp; personal reflection</a:t>
            </a:r>
          </a:p>
          <a:p>
            <a:pPr algn="l">
              <a:lnSpc>
                <a:spcPct val="100000"/>
              </a:lnSpc>
              <a:spcBef>
                <a:spcPts val="0"/>
              </a:spcBef>
              <a:spcAft>
                <a:spcPts val="400"/>
              </a:spcAft>
            </a:pPr>
            <a:r>
              <a:rPr sz="1150" b="0" i="0">
                <a:solidFill>
                  <a:srgbClr val="6B6B6B"/>
                </a:solidFill>
                <a:latin typeface="Calibri"/>
              </a:rPr>
              <a:t>Technical toolkit • data integration • experimental validation • industrial collaboration</a:t>
            </a:r>
          </a:p>
        </p:txBody>
      </p:sp>
      <p:sp>
        <p:nvSpPr>
          <p:cNvPr id="11" name="Rectangle 10"/>
          <p:cNvSpPr/>
          <p:nvPr/>
        </p:nvSpPr>
        <p:spPr>
          <a:xfrm>
            <a:off x="411480" y="6510528"/>
            <a:ext cx="1136599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556248"/>
            <a:ext cx="8686800" cy="274320"/>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Particle-Based Modelling of Scrap Handling for Green Steel Production  •  TU Delft × Tata Steel Netherlands</a:t>
            </a:r>
          </a:p>
        </p:txBody>
      </p:sp>
      <p:sp>
        <p:nvSpPr>
          <p:cNvPr id="13" name="TextBox 12"/>
          <p:cNvSpPr txBox="1"/>
          <p:nvPr/>
        </p:nvSpPr>
        <p:spPr>
          <a:xfrm>
            <a:off x="10972800" y="6556248"/>
            <a:ext cx="804672" cy="274320"/>
          </a:xfrm>
          <a:prstGeom prst="rect">
            <a:avLst/>
          </a:prstGeom>
          <a:noFill/>
        </p:spPr>
        <p:txBody>
          <a:bodyPr wrap="square" lIns="0" rIns="0" tIns="0" bIns="0">
            <a:spAutoFit/>
          </a:bodyPr>
          <a:lstStyle/>
          <a:p>
            <a:pPr algn="r">
              <a:lnSpc>
                <a:spcPct val="100000"/>
              </a:lnSpc>
              <a:spcBef>
                <a:spcPts val="0"/>
              </a:spcBef>
              <a:spcAft>
                <a:spcPts val="400"/>
              </a:spcAft>
            </a:pPr>
            <a:r>
              <a:rPr sz="900" b="1" i="0">
                <a:solidFill>
                  <a:srgbClr val="6B6B6B"/>
                </a:solidFill>
                <a:latin typeface="Calibri"/>
              </a:rPr>
              <a:t>2</a:t>
            </a:r>
          </a:p>
        </p:txBody>
      </p:sp>
    </p:spTree>
    <p:extLst>
      <p:ext uri="{BB962C8B-B14F-4D97-AF65-F5344CB8AC3E}">
        <p14:creationId xmlns:p14="http://schemas.microsoft.com/office/powerpoint/2010/main" val="2663137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8B5472-CA0A-DBD5-1850-8D985B24150A}"/>
              </a:ext>
            </a:extLst>
          </p:cNvPr>
          <p:cNvPicPr>
            <a:picLocks noChangeAspect="1"/>
          </p:cNvPicPr>
          <p:nvPr/>
        </p:nvPicPr>
        <p:blipFill>
          <a:blip r:embed="rId2"/>
          <a:stretch>
            <a:fillRect/>
          </a:stretch>
        </p:blipFill>
        <p:spPr>
          <a:xfrm>
            <a:off x="5989320" y="1024128"/>
            <a:ext cx="5779008" cy="3924986"/>
          </a:xfrm>
          <a:prstGeom prst="rect">
            <a:avLst/>
          </a:prstGeom>
        </p:spPr>
      </p:pic>
      <p:pic>
        <p:nvPicPr>
          <p:cNvPr id="3" name="Picture 2">
            <a:extLst>
              <a:ext uri="{FF2B5EF4-FFF2-40B4-BE49-F238E27FC236}">
                <a16:creationId xmlns:a16="http://schemas.microsoft.com/office/drawing/2014/main" id="{023D3EF0-9E86-8A98-5F6C-9F1C53BC01E6}"/>
              </a:ext>
            </a:extLst>
          </p:cNvPr>
          <p:cNvPicPr>
            <a:picLocks noChangeAspect="1"/>
          </p:cNvPicPr>
          <p:nvPr/>
        </p:nvPicPr>
        <p:blipFill>
          <a:blip r:embed="rId3"/>
          <a:stretch>
            <a:fillRect/>
          </a:stretch>
        </p:blipFill>
        <p:spPr>
          <a:xfrm>
            <a:off x="457200" y="5248656"/>
            <a:ext cx="4617720" cy="573474"/>
          </a:xfrm>
          <a:prstGeom prst="rect">
            <a:avLst/>
          </a:prstGeom>
        </p:spPr>
      </p:pic>
      <p:pic>
        <p:nvPicPr>
          <p:cNvPr id="4" name="Picture 3">
            <a:extLst>
              <a:ext uri="{FF2B5EF4-FFF2-40B4-BE49-F238E27FC236}">
                <a16:creationId xmlns:a16="http://schemas.microsoft.com/office/drawing/2014/main" id="{B0C4D70A-6DC0-D60D-73CF-ED07253353BC}"/>
              </a:ext>
            </a:extLst>
          </p:cNvPr>
          <p:cNvPicPr>
            <a:picLocks noChangeAspect="1"/>
          </p:cNvPicPr>
          <p:nvPr/>
        </p:nvPicPr>
        <p:blipFill>
          <a:blip r:embed="rId4"/>
          <a:stretch>
            <a:fillRect/>
          </a:stretch>
        </p:blipFill>
        <p:spPr>
          <a:xfrm>
            <a:off x="5989320" y="5230368"/>
            <a:ext cx="3611880" cy="1548846"/>
          </a:xfrm>
          <a:prstGeom prst="rect">
            <a:avLst/>
          </a:prstGeom>
        </p:spPr>
      </p:pic>
      <p:sp>
        <p:nvSpPr>
          <p:cNvPr id="5" name="TextBox 4"/>
          <p:cNvSpPr txBox="1"/>
          <p:nvPr/>
        </p:nvSpPr>
        <p:spPr>
          <a:xfrm>
            <a:off x="411480" y="237744"/>
            <a:ext cx="11338560" cy="777240"/>
          </a:xfrm>
          <a:prstGeom prst="rect">
            <a:avLst/>
          </a:prstGeom>
          <a:noFill/>
        </p:spPr>
        <p:txBody>
          <a:bodyPr wrap="square" lIns="0" rIns="0" tIns="0" bIns="0">
            <a:spAutoFit/>
          </a:bodyPr>
          <a:lstStyle/>
          <a:p>
            <a:pPr algn="l">
              <a:lnSpc>
                <a:spcPct val="100000"/>
              </a:lnSpc>
              <a:spcBef>
                <a:spcPts val="0"/>
              </a:spcBef>
              <a:spcAft>
                <a:spcPts val="200"/>
              </a:spcAft>
            </a:pPr>
            <a:r>
              <a:rPr sz="1050" b="1" i="0">
                <a:solidFill>
                  <a:srgbClr val="00A4E4"/>
                </a:solidFill>
                <a:latin typeface="Calibri"/>
              </a:rPr>
              <a:t>TOPIC 1 — PARTICLE-BASED MODELLING (DEM)</a:t>
            </a:r>
          </a:p>
          <a:p>
            <a:pPr algn="l">
              <a:lnSpc>
                <a:spcPct val="98000"/>
              </a:lnSpc>
              <a:spcBef>
                <a:spcPts val="0"/>
              </a:spcBef>
              <a:spcAft>
                <a:spcPts val="0"/>
              </a:spcAft>
            </a:pPr>
            <a:r>
              <a:rPr sz="2500" b="1" i="0">
                <a:solidFill>
                  <a:srgbClr val="143B5C"/>
                </a:solidFill>
                <a:latin typeface="Calibri"/>
              </a:rPr>
              <a:t>DEM Fundamentals &amp; Particle Shape Representation</a:t>
            </a:r>
          </a:p>
        </p:txBody>
      </p:sp>
      <p:sp>
        <p:nvSpPr>
          <p:cNvPr id="6" name="Rectangle 5"/>
          <p:cNvSpPr/>
          <p:nvPr/>
        </p:nvSpPr>
        <p:spPr>
          <a:xfrm>
            <a:off x="429768" y="969264"/>
            <a:ext cx="1234440" cy="4114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24128"/>
            <a:ext cx="5440680" cy="4114800"/>
          </a:xfrm>
          <a:prstGeom prst="rect">
            <a:avLst/>
          </a:prstGeom>
          <a:noFill/>
        </p:spPr>
        <p:txBody>
          <a:bodyPr wrap="square" lIns="0" rIns="0" tIns="0" bIns="0">
            <a:spAutoFit/>
          </a:bodyPr>
          <a:lstStyle/>
          <a:p>
            <a:pPr marL="0">
              <a:lnSpc>
                <a:spcPct val="106000"/>
              </a:lnSpc>
              <a:spcAft>
                <a:spcPts val="700"/>
              </a:spcAft>
            </a:pPr>
            <a:r>
              <a:rPr sz="1150" b="1" i="0">
                <a:solidFill>
                  <a:srgbClr val="00A4E4"/>
                </a:solidFill>
                <a:latin typeface="Calibri"/>
              </a:rPr>
              <a:t>•  </a:t>
            </a:r>
            <a:r>
              <a:rPr sz="1150" b="0" i="0">
                <a:solidFill>
                  <a:srgbClr val="2B2B2B"/>
                </a:solidFill>
                <a:latin typeface="Calibri"/>
              </a:rPr>
              <a:t>DEM tracks every scrap fragment individually via Newton's laws (Lagrangian); each contact carries a normal force Fn and a tangential force Ft (spring–damper contact model)</a:t>
            </a:r>
          </a:p>
          <a:p>
            <a:pPr marL="0">
              <a:lnSpc>
                <a:spcPct val="106000"/>
              </a:lnSpc>
              <a:spcAft>
                <a:spcPts val="700"/>
              </a:spcAft>
            </a:pPr>
            <a:r>
              <a:rPr sz="1150" b="1" i="0">
                <a:solidFill>
                  <a:srgbClr val="00A4E4"/>
                </a:solidFill>
                <a:latin typeface="Calibri"/>
              </a:rPr>
              <a:t>•  </a:t>
            </a:r>
            <a:r>
              <a:rPr sz="1150" b="0" i="0">
                <a:solidFill>
                  <a:srgbClr val="2B2B2B"/>
                </a:solidFill>
                <a:latin typeface="Calibri"/>
              </a:rPr>
              <a:t>Scrap is never round — shape controls friction, interlocking, bridging and segregation, so spheres alone roll too easily</a:t>
            </a:r>
          </a:p>
          <a:p>
            <a:pPr marL="0">
              <a:lnSpc>
                <a:spcPct val="106000"/>
              </a:lnSpc>
              <a:spcAft>
                <a:spcPts val="700"/>
              </a:spcAft>
            </a:pPr>
            <a:r>
              <a:rPr sz="1150" b="1" i="0">
                <a:solidFill>
                  <a:srgbClr val="00A4E4"/>
                </a:solidFill>
                <a:latin typeface="Calibri"/>
              </a:rPr>
              <a:t>•  </a:t>
            </a:r>
            <a:r>
              <a:rPr sz="1150" b="1" i="0">
                <a:solidFill>
                  <a:srgbClr val="2B2B2B"/>
                </a:solidFill>
                <a:latin typeface="Calibri"/>
              </a:rPr>
              <a:t>Non-spherical shape representation (Lu et al. 2015; Zhong et al. 2016):</a:t>
            </a:r>
          </a:p>
          <a:p>
            <a:pPr marL="256032">
              <a:lnSpc>
                <a:spcPct val="106000"/>
              </a:lnSpc>
              <a:spcAft>
                <a:spcPts val="700"/>
              </a:spcAft>
            </a:pPr>
            <a:r>
              <a:rPr sz="1150" b="1" i="0">
                <a:solidFill>
                  <a:srgbClr val="00A4E4"/>
                </a:solidFill>
                <a:latin typeface="Calibri"/>
              </a:rPr>
              <a:t>–  </a:t>
            </a:r>
            <a:r>
              <a:rPr sz="1150" b="0" i="0">
                <a:solidFill>
                  <a:srgbClr val="2B2B2B"/>
                </a:solidFill>
                <a:latin typeface="Calibri"/>
              </a:rPr>
              <a:t>Multi-sphere clusters — robust; reuses sphere–sphere contacts; best proxy for shredded scrap</a:t>
            </a:r>
          </a:p>
          <a:p>
            <a:pPr marL="256032">
              <a:lnSpc>
                <a:spcPct val="106000"/>
              </a:lnSpc>
              <a:spcAft>
                <a:spcPts val="700"/>
              </a:spcAft>
            </a:pPr>
            <a:r>
              <a:rPr sz="1150" b="1" i="0">
                <a:solidFill>
                  <a:srgbClr val="00A4E4"/>
                </a:solidFill>
                <a:latin typeface="Calibri"/>
              </a:rPr>
              <a:t>–  </a:t>
            </a:r>
            <a:r>
              <a:rPr sz="1150" b="0" i="0">
                <a:solidFill>
                  <a:srgbClr val="2B2B2B"/>
                </a:solidFill>
                <a:latin typeface="Calibri"/>
              </a:rPr>
              <a:t>Polyhedra — angular rock/scrap; common-plane contact; many contact cases to classify</a:t>
            </a:r>
          </a:p>
          <a:p>
            <a:pPr marL="256032">
              <a:lnSpc>
                <a:spcPct val="106000"/>
              </a:lnSpc>
              <a:spcAft>
                <a:spcPts val="700"/>
              </a:spcAft>
            </a:pPr>
            <a:r>
              <a:rPr sz="1150" b="1" i="0">
                <a:solidFill>
                  <a:srgbClr val="00A4E4"/>
                </a:solidFill>
                <a:latin typeface="Calibri"/>
              </a:rPr>
              <a:t>–  </a:t>
            </a:r>
            <a:r>
              <a:rPr sz="1150" b="0" i="0">
                <a:solidFill>
                  <a:srgbClr val="2B2B2B"/>
                </a:solidFill>
                <a:latin typeface="Calibri"/>
              </a:rPr>
              <a:t>Super-quadrics — smooth, regular shapes; ε₁, ε₂ vary roundness → blockiness continuously</a:t>
            </a:r>
          </a:p>
          <a:p>
            <a:pPr marL="256032">
              <a:lnSpc>
                <a:spcPct val="106000"/>
              </a:lnSpc>
              <a:spcAft>
                <a:spcPts val="700"/>
              </a:spcAft>
            </a:pPr>
            <a:r>
              <a:rPr sz="1150" b="1" i="0">
                <a:solidFill>
                  <a:srgbClr val="00A4E4"/>
                </a:solidFill>
                <a:latin typeface="Calibri"/>
              </a:rPr>
              <a:t>–  </a:t>
            </a:r>
            <a:r>
              <a:rPr sz="1150" b="0" i="0">
                <a:solidFill>
                  <a:srgbClr val="2B2B2B"/>
                </a:solidFill>
                <a:latin typeface="Calibri"/>
              </a:rPr>
              <a:t>Voxel / digitised — arbitrary 3D-scanned shapes; grid-resolution limited</a:t>
            </a:r>
          </a:p>
          <a:p>
            <a:pPr marL="256032">
              <a:lnSpc>
                <a:spcPct val="106000"/>
              </a:lnSpc>
              <a:spcAft>
                <a:spcPts val="700"/>
              </a:spcAft>
            </a:pPr>
            <a:r>
              <a:rPr sz="1150" b="1" i="0">
                <a:solidFill>
                  <a:srgbClr val="00A4E4"/>
                </a:solidFill>
                <a:latin typeface="Calibri"/>
              </a:rPr>
              <a:t>–  </a:t>
            </a:r>
            <a:r>
              <a:rPr sz="1150" b="0" i="0">
                <a:solidFill>
                  <a:srgbClr val="2B2B2B"/>
                </a:solidFill>
                <a:latin typeface="Calibri"/>
              </a:rPr>
              <a:t>Bonded particles — add fracture &amp; deformation</a:t>
            </a:r>
          </a:p>
          <a:p>
            <a:pPr marL="0">
              <a:lnSpc>
                <a:spcPct val="106000"/>
              </a:lnSpc>
              <a:spcAft>
                <a:spcPts val="700"/>
              </a:spcAft>
            </a:pPr>
            <a:r>
              <a:rPr sz="1150" b="1" i="0">
                <a:solidFill>
                  <a:srgbClr val="00A4E4"/>
                </a:solidFill>
                <a:latin typeface="Calibri"/>
              </a:rPr>
              <a:t>•  </a:t>
            </a:r>
            <a:r>
              <a:rPr sz="1150" b="1" i="0">
                <a:solidFill>
                  <a:srgbClr val="2B2B2B"/>
                </a:solidFill>
                <a:latin typeface="Calibri"/>
              </a:rPr>
              <a:t>Key trade-off: contact detection alone can consume &gt;80% of the computation time</a:t>
            </a:r>
          </a:p>
        </p:txBody>
      </p:sp>
      <p:sp>
        <p:nvSpPr>
          <p:cNvPr id="8" name="TextBox 7"/>
          <p:cNvSpPr txBox="1"/>
          <p:nvPr/>
        </p:nvSpPr>
        <p:spPr>
          <a:xfrm>
            <a:off x="457200" y="5870448"/>
            <a:ext cx="5440680" cy="548640"/>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Eq. (16) — 3D super-quadric implicit function; ε₁ = ε₂ = 1 gives an ellipsoid (Lu et al., 2015)</a:t>
            </a:r>
          </a:p>
        </p:txBody>
      </p:sp>
      <p:sp>
        <p:nvSpPr>
          <p:cNvPr id="9" name="TextBox 8"/>
          <p:cNvSpPr txBox="1"/>
          <p:nvPr/>
        </p:nvSpPr>
        <p:spPr>
          <a:xfrm>
            <a:off x="5989320" y="4983480"/>
            <a:ext cx="5760720" cy="237744"/>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Fig. 6 — 3D super-quadric family: ε₁ (left→right), ε₂ (top→bottom) (Lu et al., 2015)</a:t>
            </a:r>
          </a:p>
        </p:txBody>
      </p:sp>
      <p:sp>
        <p:nvSpPr>
          <p:cNvPr id="10" name="TextBox 9"/>
          <p:cNvSpPr txBox="1"/>
          <p:nvPr/>
        </p:nvSpPr>
        <p:spPr>
          <a:xfrm>
            <a:off x="9710928" y="5230368"/>
            <a:ext cx="2084831" cy="1463040"/>
          </a:xfrm>
          <a:prstGeom prst="rect">
            <a:avLst/>
          </a:prstGeom>
          <a:noFill/>
        </p:spPr>
        <p:txBody>
          <a:bodyPr wrap="square" lIns="0" rIns="0" tIns="0" bIns="0">
            <a:spAutoFit/>
          </a:bodyPr>
          <a:lstStyle/>
          <a:p>
            <a:pPr algn="l">
              <a:lnSpc>
                <a:spcPct val="100000"/>
              </a:lnSpc>
              <a:spcBef>
                <a:spcPts val="0"/>
              </a:spcBef>
              <a:spcAft>
                <a:spcPts val="400"/>
              </a:spcAft>
            </a:pPr>
            <a:r>
              <a:rPr sz="750" b="0" i="0">
                <a:solidFill>
                  <a:srgbClr val="6B6B6B"/>
                </a:solidFill>
                <a:latin typeface="Calibri"/>
              </a:rPr>
              <a:t>Fig. 4b — approximation of the actual contact region Ω between two super-quadrics (Lu et al., 2015)</a:t>
            </a:r>
          </a:p>
        </p:txBody>
      </p:sp>
    </p:spTree>
    <p:extLst>
      <p:ext uri="{BB962C8B-B14F-4D97-AF65-F5344CB8AC3E}">
        <p14:creationId xmlns:p14="http://schemas.microsoft.com/office/powerpoint/2010/main" val="391442522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11338560" cy="777240"/>
          </a:xfrm>
          <a:prstGeom prst="rect">
            <a:avLst/>
          </a:prstGeom>
          <a:noFill/>
        </p:spPr>
        <p:txBody>
          <a:bodyPr wrap="square" lIns="0" rIns="0" tIns="0" bIns="0">
            <a:spAutoFit/>
          </a:bodyPr>
          <a:lstStyle/>
          <a:p>
            <a:pPr algn="l">
              <a:lnSpc>
                <a:spcPct val="100000"/>
              </a:lnSpc>
              <a:spcBef>
                <a:spcPts val="0"/>
              </a:spcBef>
              <a:spcAft>
                <a:spcPts val="200"/>
              </a:spcAft>
            </a:pPr>
            <a:r>
              <a:rPr sz="1050" b="1" i="0">
                <a:solidFill>
                  <a:srgbClr val="00A4E4"/>
                </a:solidFill>
                <a:latin typeface="Calibri"/>
              </a:rPr>
              <a:t>TOPIC 1 — PARTICLE-BASED MODELLING (DEM) &amp; CONVEYOR SYSTEMS</a:t>
            </a:r>
          </a:p>
          <a:p>
            <a:pPr algn="l">
              <a:lnSpc>
                <a:spcPct val="98000"/>
              </a:lnSpc>
              <a:spcBef>
                <a:spcPts val="0"/>
              </a:spcBef>
              <a:spcAft>
                <a:spcPts val="0"/>
              </a:spcAft>
            </a:pPr>
            <a:r>
              <a:rPr sz="2500" b="1" i="0">
                <a:solidFill>
                  <a:srgbClr val="143B5C"/>
                </a:solidFill>
                <a:latin typeface="Calibri"/>
              </a:rPr>
              <a:t>Conveyor Belts &amp; Vibratory Feeders: Mechanics at the Boundary</a:t>
            </a:r>
          </a:p>
        </p:txBody>
      </p:sp>
      <p:sp>
        <p:nvSpPr>
          <p:cNvPr id="3" name="Rectangle 2"/>
          <p:cNvSpPr/>
          <p:nvPr/>
        </p:nvSpPr>
        <p:spPr>
          <a:xfrm>
            <a:off x="429768" y="969264"/>
            <a:ext cx="1234440" cy="4114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6510528"/>
            <a:ext cx="1136599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56248"/>
            <a:ext cx="8686800" cy="274320"/>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Particle-Based Modelling of Scrap Handling for Green Steel Production  •  TU Delft × Tata Steel Netherlands</a:t>
            </a:r>
          </a:p>
        </p:txBody>
      </p:sp>
      <p:sp>
        <p:nvSpPr>
          <p:cNvPr id="6" name="TextBox 5"/>
          <p:cNvSpPr txBox="1"/>
          <p:nvPr/>
        </p:nvSpPr>
        <p:spPr>
          <a:xfrm>
            <a:off x="10972800" y="6556248"/>
            <a:ext cx="804672" cy="274320"/>
          </a:xfrm>
          <a:prstGeom prst="rect">
            <a:avLst/>
          </a:prstGeom>
          <a:noFill/>
        </p:spPr>
        <p:txBody>
          <a:bodyPr wrap="square" lIns="0" rIns="0" tIns="0" bIns="0">
            <a:spAutoFit/>
          </a:bodyPr>
          <a:lstStyle/>
          <a:p>
            <a:pPr algn="r">
              <a:lnSpc>
                <a:spcPct val="100000"/>
              </a:lnSpc>
              <a:spcBef>
                <a:spcPts val="0"/>
              </a:spcBef>
              <a:spcAft>
                <a:spcPts val="400"/>
              </a:spcAft>
            </a:pPr>
            <a:r>
              <a:rPr sz="900" b="1" i="0">
                <a:solidFill>
                  <a:srgbClr val="6B6B6B"/>
                </a:solidFill>
                <a:latin typeface="Calibri"/>
              </a:rPr>
              <a:t>4</a:t>
            </a:r>
          </a:p>
        </p:txBody>
      </p:sp>
      <p:sp>
        <p:nvSpPr>
          <p:cNvPr id="7" name="Rounded Rectangle 6"/>
          <p:cNvSpPr/>
          <p:nvPr/>
        </p:nvSpPr>
        <p:spPr>
          <a:xfrm>
            <a:off x="411480" y="1298448"/>
            <a:ext cx="2514600" cy="896112"/>
          </a:xfrm>
          <a:prstGeom prst="roundRect">
            <a:avLst>
              <a:gd name="adj" fmla="val 4500"/>
            </a:avLst>
          </a:prstGeom>
          <a:solidFill>
            <a:srgbClr val="EAF4FB"/>
          </a:solidFill>
          <a:ln w="1524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54864"/>
          <a:lstStyle/>
          <a:p>
            <a:pPr algn="ctr"/>
            <a:r>
              <a:rPr sz="1250" b="1" i="0">
                <a:solidFill>
                  <a:srgbClr val="143B5C"/>
                </a:solidFill>
                <a:latin typeface="Calibri"/>
              </a:rPr>
              <a:t>Belt conveyor</a:t>
            </a:r>
          </a:p>
          <a:p>
            <a:pPr algn="ctr">
              <a:lnSpc>
                <a:spcPct val="95000"/>
              </a:lnSpc>
            </a:pPr>
            <a:r>
              <a:rPr sz="850" b="0" i="0">
                <a:solidFill>
                  <a:srgbClr val="6B6B6B"/>
                </a:solidFill>
                <a:latin typeface="Calibri"/>
              </a:rPr>
              <a:t>chevron patterned belt • wall friction • belt velocity</a:t>
            </a:r>
          </a:p>
        </p:txBody>
      </p:sp>
      <p:sp>
        <p:nvSpPr>
          <p:cNvPr id="8" name="Right Arrow 7"/>
          <p:cNvSpPr/>
          <p:nvPr/>
        </p:nvSpPr>
        <p:spPr>
          <a:xfrm>
            <a:off x="2990088" y="1645919"/>
            <a:ext cx="329184" cy="201168"/>
          </a:xfrm>
          <a:prstGeom prst="rightArrow">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83280" y="1298448"/>
            <a:ext cx="2514600" cy="896112"/>
          </a:xfrm>
          <a:prstGeom prst="roundRect">
            <a:avLst>
              <a:gd name="adj" fmla="val 4500"/>
            </a:avLst>
          </a:prstGeom>
          <a:solidFill>
            <a:srgbClr val="EAF4FB"/>
          </a:solidFill>
          <a:ln w="1524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54864"/>
          <a:lstStyle/>
          <a:p>
            <a:pPr algn="ctr"/>
            <a:r>
              <a:rPr sz="1250" b="1" i="0">
                <a:solidFill>
                  <a:srgbClr val="143B5C"/>
                </a:solidFill>
                <a:latin typeface="Calibri"/>
              </a:rPr>
              <a:t>Transfer chute</a:t>
            </a:r>
          </a:p>
          <a:p>
            <a:pPr algn="ctr">
              <a:lnSpc>
                <a:spcPct val="95000"/>
              </a:lnSpc>
            </a:pPr>
            <a:r>
              <a:rPr sz="850" b="0" i="0">
                <a:solidFill>
                  <a:srgbClr val="6B6B6B"/>
                </a:solidFill>
                <a:latin typeface="Calibri"/>
              </a:rPr>
              <a:t>impact plate • hood • rock box • build-up &amp; blockage</a:t>
            </a:r>
          </a:p>
        </p:txBody>
      </p:sp>
      <p:sp>
        <p:nvSpPr>
          <p:cNvPr id="10" name="Right Arrow 9"/>
          <p:cNvSpPr/>
          <p:nvPr/>
        </p:nvSpPr>
        <p:spPr>
          <a:xfrm>
            <a:off x="5961888" y="1645919"/>
            <a:ext cx="329184" cy="201168"/>
          </a:xfrm>
          <a:prstGeom prst="rightArrow">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55080" y="1298448"/>
            <a:ext cx="2514600" cy="896112"/>
          </a:xfrm>
          <a:prstGeom prst="roundRect">
            <a:avLst>
              <a:gd name="adj" fmla="val 4500"/>
            </a:avLst>
          </a:prstGeom>
          <a:solidFill>
            <a:srgbClr val="EAF4FB"/>
          </a:solidFill>
          <a:ln w="1524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54864"/>
          <a:lstStyle/>
          <a:p>
            <a:pPr algn="ctr"/>
            <a:r>
              <a:rPr sz="1250" b="1" i="0">
                <a:solidFill>
                  <a:srgbClr val="143B5C"/>
                </a:solidFill>
                <a:latin typeface="Calibri"/>
              </a:rPr>
              <a:t>Vibratory feeder</a:t>
            </a:r>
          </a:p>
          <a:p>
            <a:pPr algn="ctr">
              <a:lnSpc>
                <a:spcPct val="95000"/>
              </a:lnSpc>
            </a:pPr>
            <a:r>
              <a:rPr sz="850" b="0" i="0">
                <a:solidFill>
                  <a:srgbClr val="6B6B6B"/>
                </a:solidFill>
                <a:latin typeface="Calibri"/>
              </a:rPr>
              <a:t>inertial vibration: frequency, amplitude, inclination</a:t>
            </a:r>
          </a:p>
        </p:txBody>
      </p:sp>
      <p:sp>
        <p:nvSpPr>
          <p:cNvPr id="12" name="Right Arrow 11"/>
          <p:cNvSpPr/>
          <p:nvPr/>
        </p:nvSpPr>
        <p:spPr>
          <a:xfrm>
            <a:off x="8933688" y="1645919"/>
            <a:ext cx="329184" cy="201168"/>
          </a:xfrm>
          <a:prstGeom prst="rightArrow">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326880" y="1298448"/>
            <a:ext cx="2514600" cy="896112"/>
          </a:xfrm>
          <a:prstGeom prst="roundRect">
            <a:avLst>
              <a:gd name="adj" fmla="val 4500"/>
            </a:avLst>
          </a:prstGeom>
          <a:solidFill>
            <a:srgbClr val="D9EEFB"/>
          </a:solidFill>
          <a:ln w="1524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54864"/>
          <a:lstStyle/>
          <a:p>
            <a:pPr algn="ctr"/>
            <a:r>
              <a:rPr sz="1250" b="1" i="0">
                <a:solidFill>
                  <a:srgbClr val="143B5C"/>
                </a:solidFill>
                <a:latin typeface="Calibri"/>
              </a:rPr>
              <a:t>EAF infeed</a:t>
            </a:r>
          </a:p>
          <a:p>
            <a:pPr algn="ctr">
              <a:lnSpc>
                <a:spcPct val="95000"/>
              </a:lnSpc>
            </a:pPr>
            <a:r>
              <a:rPr sz="850" b="0" i="0">
                <a:solidFill>
                  <a:srgbClr val="6B6B6B"/>
                </a:solidFill>
                <a:latin typeface="Calibri"/>
              </a:rPr>
              <a:t>continuous charging into the furnace</a:t>
            </a:r>
          </a:p>
        </p:txBody>
      </p:sp>
      <p:sp>
        <p:nvSpPr>
          <p:cNvPr id="14" name="Rounded Rectangle 13"/>
          <p:cNvSpPr/>
          <p:nvPr/>
        </p:nvSpPr>
        <p:spPr>
          <a:xfrm>
            <a:off x="411480" y="2487168"/>
            <a:ext cx="5596128" cy="1700784"/>
          </a:xfrm>
          <a:prstGeom prst="roundRect">
            <a:avLst>
              <a:gd name="adj" fmla="val 4500"/>
            </a:avLst>
          </a:prstGeom>
          <a:solidFill>
            <a:srgbClr val="F5F9FC"/>
          </a:solidFill>
          <a:ln w="1270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 y="2569464"/>
            <a:ext cx="5340096" cy="1536192"/>
          </a:xfrm>
          <a:prstGeom prst="rect">
            <a:avLst/>
          </a:prstGeom>
          <a:noFill/>
        </p:spPr>
        <p:txBody>
          <a:bodyPr wrap="square" lIns="0" rIns="0" tIns="0" bIns="0">
            <a:spAutoFit/>
          </a:bodyPr>
          <a:lstStyle/>
          <a:p>
            <a:pPr algn="l">
              <a:lnSpc>
                <a:spcPct val="100000"/>
              </a:lnSpc>
              <a:spcBef>
                <a:spcPts val="0"/>
              </a:spcBef>
              <a:spcAft>
                <a:spcPts val="100"/>
              </a:spcAft>
            </a:pPr>
            <a:r>
              <a:rPr sz="1050" b="1" i="0">
                <a:solidFill>
                  <a:srgbClr val="143B5C"/>
                </a:solidFill>
                <a:latin typeface="Calibri"/>
              </a:rPr>
              <a:t>Rossow &amp; Coetzee (2021) — chevron belt + transfer chute</a:t>
            </a:r>
          </a:p>
          <a:p>
            <a:pPr algn="l">
              <a:lnSpc>
                <a:spcPct val="100000"/>
              </a:lnSpc>
              <a:spcBef>
                <a:spcPts val="0"/>
              </a:spcBef>
              <a:spcAft>
                <a:spcPts val="300"/>
              </a:spcAft>
            </a:pPr>
            <a:r>
              <a:rPr sz="850" b="0" i="1">
                <a:solidFill>
                  <a:srgbClr val="6B6B6B"/>
                </a:solidFill>
                <a:latin typeface="Calibri"/>
              </a:rPr>
              <a:t>Powder Technol. 391:77–96</a:t>
            </a:r>
          </a:p>
          <a:p>
            <a:pPr>
              <a:lnSpc>
                <a:spcPct val="98000"/>
              </a:lnSpc>
              <a:spcAft>
                <a:spcPts val="200"/>
              </a:spcAft>
            </a:pPr>
            <a:r>
              <a:rPr sz="900" b="1" i="0">
                <a:solidFill>
                  <a:srgbClr val="00A4E4"/>
                </a:solidFill>
                <a:latin typeface="Calibri"/>
              </a:rPr>
              <a:t>•  </a:t>
            </a:r>
            <a:r>
              <a:rPr sz="900" b="0" i="0">
                <a:solidFill>
                  <a:srgbClr val="2B2B2B"/>
                </a:solidFill>
                <a:latin typeface="Calibri"/>
              </a:rPr>
              <a:t>First DEM study of a chevron-patterned belt with impact plate, hood and rock box; 3D-laser-scanned particles modelled as 3/5/10-sphere multi-sphere “clumps”</a:t>
            </a:r>
          </a:p>
          <a:p>
            <a:pPr>
              <a:lnSpc>
                <a:spcPct val="98000"/>
              </a:lnSpc>
              <a:spcAft>
                <a:spcPts val="200"/>
              </a:spcAft>
            </a:pPr>
            <a:r>
              <a:rPr sz="900" b="1" i="0">
                <a:solidFill>
                  <a:srgbClr val="00A4E4"/>
                </a:solidFill>
                <a:latin typeface="Calibri"/>
              </a:rPr>
              <a:t>•  </a:t>
            </a:r>
            <a:r>
              <a:rPr sz="900" b="0" i="0">
                <a:solidFill>
                  <a:srgbClr val="2B2B2B"/>
                </a:solidFill>
                <a:latin typeface="Calibri"/>
              </a:rPr>
              <a:t>Validated against high-speed footage: mass flow ≤5.4% error, impact velocity &lt;6.1%, impact-wall force &lt;17%</a:t>
            </a:r>
          </a:p>
          <a:p>
            <a:pPr>
              <a:lnSpc>
                <a:spcPct val="98000"/>
              </a:lnSpc>
              <a:spcAft>
                <a:spcPts val="200"/>
              </a:spcAft>
            </a:pPr>
            <a:r>
              <a:rPr sz="900" b="1" i="0">
                <a:solidFill>
                  <a:srgbClr val="00A4E4"/>
                </a:solidFill>
                <a:latin typeface="Calibri"/>
              </a:rPr>
              <a:t>•  </a:t>
            </a:r>
            <a:r>
              <a:rPr sz="900" b="0" i="0">
                <a:solidFill>
                  <a:srgbClr val="2B2B2B"/>
                </a:solidFill>
                <a:latin typeface="Calibri"/>
              </a:rPr>
              <a:t>Maximum particle up-scaling factor 1.6 (≤10% error) — DEM beat the analytical model in accuracy</a:t>
            </a:r>
          </a:p>
        </p:txBody>
      </p:sp>
      <p:sp>
        <p:nvSpPr>
          <p:cNvPr id="16" name="Rounded Rectangle 15"/>
          <p:cNvSpPr/>
          <p:nvPr/>
        </p:nvSpPr>
        <p:spPr>
          <a:xfrm>
            <a:off x="6181344" y="2487168"/>
            <a:ext cx="5596128" cy="1700784"/>
          </a:xfrm>
          <a:prstGeom prst="roundRect">
            <a:avLst>
              <a:gd name="adj" fmla="val 4500"/>
            </a:avLst>
          </a:prstGeom>
          <a:solidFill>
            <a:srgbClr val="F5F9FC"/>
          </a:solidFill>
          <a:ln w="1270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2569464"/>
            <a:ext cx="5340096" cy="1536192"/>
          </a:xfrm>
          <a:prstGeom prst="rect">
            <a:avLst/>
          </a:prstGeom>
          <a:noFill/>
        </p:spPr>
        <p:txBody>
          <a:bodyPr wrap="square" lIns="0" rIns="0" tIns="0" bIns="0">
            <a:spAutoFit/>
          </a:bodyPr>
          <a:lstStyle/>
          <a:p>
            <a:pPr algn="l">
              <a:lnSpc>
                <a:spcPct val="100000"/>
              </a:lnSpc>
              <a:spcBef>
                <a:spcPts val="0"/>
              </a:spcBef>
              <a:spcAft>
                <a:spcPts val="100"/>
              </a:spcAft>
            </a:pPr>
            <a:r>
              <a:rPr sz="1050" b="1" i="0">
                <a:solidFill>
                  <a:srgbClr val="143B5C"/>
                </a:solidFill>
                <a:latin typeface="Calibri"/>
              </a:rPr>
              <a:t>Schefler &amp; Coetzee (2023) — cohesive belt discharge</a:t>
            </a:r>
          </a:p>
          <a:p>
            <a:pPr algn="l">
              <a:lnSpc>
                <a:spcPct val="100000"/>
              </a:lnSpc>
              <a:spcBef>
                <a:spcPts val="0"/>
              </a:spcBef>
              <a:spcAft>
                <a:spcPts val="300"/>
              </a:spcAft>
            </a:pPr>
            <a:r>
              <a:rPr sz="850" b="0" i="1">
                <a:solidFill>
                  <a:srgbClr val="6B6B6B"/>
                </a:solidFill>
                <a:latin typeface="Calibri"/>
              </a:rPr>
              <a:t>Minerals 13(12):1501</a:t>
            </a:r>
          </a:p>
          <a:p>
            <a:pPr>
              <a:lnSpc>
                <a:spcPct val="98000"/>
              </a:lnSpc>
              <a:spcAft>
                <a:spcPts val="200"/>
              </a:spcAft>
            </a:pPr>
            <a:r>
              <a:rPr sz="900" b="1" i="0">
                <a:solidFill>
                  <a:srgbClr val="00A4E4"/>
                </a:solidFill>
                <a:latin typeface="Calibri"/>
              </a:rPr>
              <a:t>•  </a:t>
            </a:r>
            <a:r>
              <a:rPr sz="900" b="0" i="0">
                <a:solidFill>
                  <a:srgbClr val="2B2B2B"/>
                </a:solidFill>
                <a:latin typeface="Calibri"/>
              </a:rPr>
              <a:t>Wet-and-sticky material discharging from belt onto an inclined impact plate: build-up profile, peak impact force and residual weight reproduced with &lt;15% error using upscaled particles</a:t>
            </a:r>
          </a:p>
          <a:p>
            <a:pPr>
              <a:lnSpc>
                <a:spcPct val="98000"/>
              </a:lnSpc>
              <a:spcAft>
                <a:spcPts val="200"/>
              </a:spcAft>
            </a:pPr>
            <a:r>
              <a:rPr sz="900" b="1" i="0">
                <a:solidFill>
                  <a:srgbClr val="00A4E4"/>
                </a:solidFill>
                <a:latin typeface="Calibri"/>
              </a:rPr>
              <a:t>•  </a:t>
            </a:r>
            <a:r>
              <a:rPr sz="900" b="0" i="0">
                <a:solidFill>
                  <a:srgbClr val="2B2B2B"/>
                </a:solidFill>
                <a:latin typeface="Calibri"/>
              </a:rPr>
              <a:t>Max acceptable scale factor is a geometric property of the bulk measure of interest — not of the physical particle size</a:t>
            </a:r>
          </a:p>
          <a:p>
            <a:pPr>
              <a:lnSpc>
                <a:spcPct val="98000"/>
              </a:lnSpc>
              <a:spcAft>
                <a:spcPts val="200"/>
              </a:spcAft>
            </a:pPr>
            <a:r>
              <a:rPr sz="900" b="1" i="0">
                <a:solidFill>
                  <a:srgbClr val="00A4E4"/>
                </a:solidFill>
                <a:latin typeface="Calibri"/>
              </a:rPr>
              <a:t>•  </a:t>
            </a:r>
            <a:r>
              <a:rPr sz="900" b="0" i="0">
                <a:solidFill>
                  <a:srgbClr val="2B2B2B"/>
                </a:solidFill>
                <a:latin typeface="Calibri"/>
              </a:rPr>
              <a:t>Higher cohesion → thicker discharge stream &amp; taller build-up → higher allowable scale factor</a:t>
            </a:r>
          </a:p>
        </p:txBody>
      </p:sp>
      <p:sp>
        <p:nvSpPr>
          <p:cNvPr id="18" name="Rounded Rectangle 17"/>
          <p:cNvSpPr/>
          <p:nvPr/>
        </p:nvSpPr>
        <p:spPr>
          <a:xfrm>
            <a:off x="411480" y="4315968"/>
            <a:ext cx="5596128" cy="1700784"/>
          </a:xfrm>
          <a:prstGeom prst="roundRect">
            <a:avLst>
              <a:gd name="adj" fmla="val 4500"/>
            </a:avLst>
          </a:prstGeom>
          <a:solidFill>
            <a:srgbClr val="F5F9FC"/>
          </a:solidFill>
          <a:ln w="1270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496" y="4398264"/>
            <a:ext cx="5340096" cy="1536192"/>
          </a:xfrm>
          <a:prstGeom prst="rect">
            <a:avLst/>
          </a:prstGeom>
          <a:noFill/>
        </p:spPr>
        <p:txBody>
          <a:bodyPr wrap="square" lIns="0" rIns="0" tIns="0" bIns="0">
            <a:spAutoFit/>
          </a:bodyPr>
          <a:lstStyle/>
          <a:p>
            <a:pPr algn="l">
              <a:lnSpc>
                <a:spcPct val="100000"/>
              </a:lnSpc>
              <a:spcBef>
                <a:spcPts val="0"/>
              </a:spcBef>
              <a:spcAft>
                <a:spcPts val="100"/>
              </a:spcAft>
            </a:pPr>
            <a:r>
              <a:rPr sz="1050" b="1" i="0">
                <a:solidFill>
                  <a:srgbClr val="143B5C"/>
                </a:solidFill>
                <a:latin typeface="Calibri"/>
              </a:rPr>
              <a:t>You et al. (2018) — vibration sorting of non-spherical particles</a:t>
            </a:r>
          </a:p>
          <a:p>
            <a:pPr algn="l">
              <a:lnSpc>
                <a:spcPct val="100000"/>
              </a:lnSpc>
              <a:spcBef>
                <a:spcPts val="0"/>
              </a:spcBef>
              <a:spcAft>
                <a:spcPts val="300"/>
              </a:spcAft>
            </a:pPr>
            <a:r>
              <a:rPr sz="850" b="0" i="1">
                <a:solidFill>
                  <a:srgbClr val="6B6B6B"/>
                </a:solidFill>
                <a:latin typeface="Calibri"/>
              </a:rPr>
              <a:t>Powder Technol. (2018)</a:t>
            </a:r>
          </a:p>
          <a:p>
            <a:pPr>
              <a:lnSpc>
                <a:spcPct val="98000"/>
              </a:lnSpc>
              <a:spcAft>
                <a:spcPts val="200"/>
              </a:spcAft>
            </a:pPr>
            <a:r>
              <a:rPr sz="900" b="1" i="0">
                <a:solidFill>
                  <a:srgbClr val="00A4E4"/>
                </a:solidFill>
                <a:latin typeface="Calibri"/>
              </a:rPr>
              <a:t>•  </a:t>
            </a:r>
            <a:r>
              <a:rPr sz="900" b="0" i="0">
                <a:solidFill>
                  <a:srgbClr val="2B2B2B"/>
                </a:solidFill>
                <a:latin typeface="Calibri"/>
              </a:rPr>
              <a:t>DEM of an inclined vibrating plate: non-spherical particles as super-ellipsoids, mixed 1:1 with spheres</a:t>
            </a:r>
          </a:p>
          <a:p>
            <a:pPr>
              <a:lnSpc>
                <a:spcPct val="98000"/>
              </a:lnSpc>
              <a:spcAft>
                <a:spcPts val="200"/>
              </a:spcAft>
            </a:pPr>
            <a:r>
              <a:rPr sz="900" b="1" i="0">
                <a:solidFill>
                  <a:srgbClr val="00A4E4"/>
                </a:solidFill>
                <a:latin typeface="Calibri"/>
              </a:rPr>
              <a:t>•  </a:t>
            </a:r>
            <a:r>
              <a:rPr sz="900" b="0" i="0">
                <a:solidFill>
                  <a:srgbClr val="2B2B2B"/>
                </a:solidFill>
                <a:latin typeface="Calibri"/>
              </a:rPr>
              <a:t>Vibration frequency &amp; amplitude control the velocity distribution and discharge sequence of the mixture</a:t>
            </a:r>
          </a:p>
          <a:p>
            <a:pPr>
              <a:lnSpc>
                <a:spcPct val="98000"/>
              </a:lnSpc>
              <a:spcAft>
                <a:spcPts val="200"/>
              </a:spcAft>
            </a:pPr>
            <a:r>
              <a:rPr sz="900" b="1" i="0">
                <a:solidFill>
                  <a:srgbClr val="00A4E4"/>
                </a:solidFill>
                <a:latin typeface="Calibri"/>
              </a:rPr>
              <a:t>•  </a:t>
            </a:r>
            <a:r>
              <a:rPr sz="900" b="0" i="0">
                <a:solidFill>
                  <a:srgbClr val="2B2B2B"/>
                </a:solidFill>
                <a:latin typeface="Calibri"/>
              </a:rPr>
              <a:t>Effective separation when (2πf)²A ≈ 1.5g — a practical design rule for vibratory feeders</a:t>
            </a:r>
          </a:p>
        </p:txBody>
      </p:sp>
      <p:sp>
        <p:nvSpPr>
          <p:cNvPr id="20" name="Rounded Rectangle 19"/>
          <p:cNvSpPr/>
          <p:nvPr/>
        </p:nvSpPr>
        <p:spPr>
          <a:xfrm>
            <a:off x="6181344" y="4315968"/>
            <a:ext cx="5596128" cy="1700784"/>
          </a:xfrm>
          <a:prstGeom prst="roundRect">
            <a:avLst>
              <a:gd name="adj" fmla="val 4500"/>
            </a:avLst>
          </a:prstGeom>
          <a:solidFill>
            <a:srgbClr val="F5F9FC"/>
          </a:solidFill>
          <a:ln w="1270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4398264"/>
            <a:ext cx="5340096" cy="1536192"/>
          </a:xfrm>
          <a:prstGeom prst="rect">
            <a:avLst/>
          </a:prstGeom>
          <a:noFill/>
        </p:spPr>
        <p:txBody>
          <a:bodyPr wrap="square" lIns="0" rIns="0" tIns="0" bIns="0">
            <a:spAutoFit/>
          </a:bodyPr>
          <a:lstStyle/>
          <a:p>
            <a:pPr algn="l">
              <a:lnSpc>
                <a:spcPct val="100000"/>
              </a:lnSpc>
              <a:spcBef>
                <a:spcPts val="0"/>
              </a:spcBef>
              <a:spcAft>
                <a:spcPts val="100"/>
              </a:spcAft>
            </a:pPr>
            <a:r>
              <a:rPr sz="1050" b="1" i="0">
                <a:solidFill>
                  <a:srgbClr val="143B5C"/>
                </a:solidFill>
                <a:latin typeface="Calibri"/>
              </a:rPr>
              <a:t>Xiao et al. (2024) — measuring real scrap feeding</a:t>
            </a:r>
          </a:p>
          <a:p>
            <a:pPr algn="l">
              <a:lnSpc>
                <a:spcPct val="100000"/>
              </a:lnSpc>
              <a:spcBef>
                <a:spcPts val="0"/>
              </a:spcBef>
              <a:spcAft>
                <a:spcPts val="300"/>
              </a:spcAft>
            </a:pPr>
            <a:r>
              <a:rPr sz="850" b="0" i="1">
                <a:solidFill>
                  <a:srgbClr val="6B6B6B"/>
                </a:solidFill>
                <a:latin typeface="Calibri"/>
              </a:rPr>
              <a:t>CSAE 2024 (ACM)</a:t>
            </a:r>
          </a:p>
          <a:p>
            <a:pPr>
              <a:lnSpc>
                <a:spcPct val="98000"/>
              </a:lnSpc>
              <a:spcAft>
                <a:spcPts val="200"/>
              </a:spcAft>
            </a:pPr>
            <a:r>
              <a:rPr sz="900" b="1" i="0">
                <a:solidFill>
                  <a:srgbClr val="00A4E4"/>
                </a:solidFill>
                <a:latin typeface="Calibri"/>
              </a:rPr>
              <a:t>•  </a:t>
            </a:r>
            <a:r>
              <a:rPr sz="900" b="0" i="0">
                <a:solidFill>
                  <a:srgbClr val="2B2B2B"/>
                </a:solidFill>
                <a:latin typeface="Calibri"/>
              </a:rPr>
              <a:t>Vision-based speed measurement of scrap on an inertial vibratory conveyor (SuperPoint feature-point extraction &amp; matching)</a:t>
            </a:r>
          </a:p>
          <a:p>
            <a:pPr>
              <a:lnSpc>
                <a:spcPct val="98000"/>
              </a:lnSpc>
              <a:spcAft>
                <a:spcPts val="200"/>
              </a:spcAft>
            </a:pPr>
            <a:r>
              <a:rPr sz="900" b="1" i="0">
                <a:solidFill>
                  <a:srgbClr val="00A4E4"/>
                </a:solidFill>
                <a:latin typeface="Calibri"/>
              </a:rPr>
              <a:t>•  </a:t>
            </a:r>
            <a:r>
              <a:rPr sz="900" b="0" i="0">
                <a:solidFill>
                  <a:srgbClr val="2B2B2B"/>
                </a:solidFill>
                <a:latin typeface="Calibri"/>
              </a:rPr>
              <a:t>Works despite heterogeneous scrap types, sizes and stacking — no object tracking needed</a:t>
            </a:r>
          </a:p>
          <a:p>
            <a:pPr>
              <a:lnSpc>
                <a:spcPct val="98000"/>
              </a:lnSpc>
              <a:spcAft>
                <a:spcPts val="200"/>
              </a:spcAft>
            </a:pPr>
            <a:r>
              <a:rPr sz="900" b="1" i="0">
                <a:solidFill>
                  <a:srgbClr val="00A4E4"/>
                </a:solidFill>
                <a:latin typeface="Calibri"/>
              </a:rPr>
              <a:t>•  </a:t>
            </a:r>
            <a:r>
              <a:rPr sz="900" b="0" i="0">
                <a:solidFill>
                  <a:srgbClr val="2B2B2B"/>
                </a:solidFill>
                <a:latin typeface="Calibri"/>
              </a:rPr>
              <a:t>On-site application: measured speed curve matches the horizontal-vibrator frequency curve — an industrial validation pathway for our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11338560" cy="777240"/>
          </a:xfrm>
          <a:prstGeom prst="rect">
            <a:avLst/>
          </a:prstGeom>
          <a:noFill/>
        </p:spPr>
        <p:txBody>
          <a:bodyPr wrap="square" lIns="0" rIns="0" tIns="0" bIns="0">
            <a:spAutoFit/>
          </a:bodyPr>
          <a:lstStyle/>
          <a:p>
            <a:pPr algn="l">
              <a:lnSpc>
                <a:spcPct val="100000"/>
              </a:lnSpc>
              <a:spcBef>
                <a:spcPts val="0"/>
              </a:spcBef>
              <a:spcAft>
                <a:spcPts val="200"/>
              </a:spcAft>
            </a:pPr>
            <a:r>
              <a:rPr sz="1050" b="1" i="0">
                <a:solidFill>
                  <a:srgbClr val="00A4E4"/>
                </a:solidFill>
                <a:latin typeface="Calibri"/>
              </a:rPr>
              <a:t>TOPIC 2 — CURRENT STATE OF THE ART &amp; KNOWLEDGE GAPS</a:t>
            </a:r>
          </a:p>
          <a:p>
            <a:pPr algn="l">
              <a:lnSpc>
                <a:spcPct val="98000"/>
              </a:lnSpc>
              <a:spcBef>
                <a:spcPts val="0"/>
              </a:spcBef>
              <a:spcAft>
                <a:spcPts val="0"/>
              </a:spcAft>
            </a:pPr>
            <a:r>
              <a:rPr sz="2500" b="1" i="0">
                <a:solidFill>
                  <a:srgbClr val="143B5C"/>
                </a:solidFill>
                <a:latin typeface="Calibri"/>
              </a:rPr>
              <a:t>The Frontier of Research: Where the Literature Stands</a:t>
            </a:r>
          </a:p>
        </p:txBody>
      </p:sp>
      <p:sp>
        <p:nvSpPr>
          <p:cNvPr id="3" name="Rectangle 2"/>
          <p:cNvSpPr/>
          <p:nvPr/>
        </p:nvSpPr>
        <p:spPr>
          <a:xfrm>
            <a:off x="429768" y="969264"/>
            <a:ext cx="1234440" cy="4114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6510528"/>
            <a:ext cx="1136599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56248"/>
            <a:ext cx="8686800" cy="274320"/>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Particle-Based Modelling of Scrap Handling for Green Steel Production  •  TU Delft × Tata Steel Netherlands</a:t>
            </a:r>
          </a:p>
        </p:txBody>
      </p:sp>
      <p:sp>
        <p:nvSpPr>
          <p:cNvPr id="6" name="TextBox 5"/>
          <p:cNvSpPr txBox="1"/>
          <p:nvPr/>
        </p:nvSpPr>
        <p:spPr>
          <a:xfrm>
            <a:off x="10972800" y="6556248"/>
            <a:ext cx="804672" cy="274320"/>
          </a:xfrm>
          <a:prstGeom prst="rect">
            <a:avLst/>
          </a:prstGeom>
          <a:noFill/>
        </p:spPr>
        <p:txBody>
          <a:bodyPr wrap="square" lIns="0" rIns="0" tIns="0" bIns="0">
            <a:spAutoFit/>
          </a:bodyPr>
          <a:lstStyle/>
          <a:p>
            <a:pPr algn="r">
              <a:lnSpc>
                <a:spcPct val="100000"/>
              </a:lnSpc>
              <a:spcBef>
                <a:spcPts val="0"/>
              </a:spcBef>
              <a:spcAft>
                <a:spcPts val="400"/>
              </a:spcAft>
            </a:pPr>
            <a:r>
              <a:rPr sz="900" b="1" i="0">
                <a:solidFill>
                  <a:srgbClr val="6B6B6B"/>
                </a:solidFill>
                <a:latin typeface="Calibri"/>
              </a:rPr>
              <a:t>5</a:t>
            </a:r>
          </a:p>
        </p:txBody>
      </p:sp>
      <p:graphicFrame>
        <p:nvGraphicFramePr>
          <p:cNvPr id="7" name="Table 6"/>
          <p:cNvGraphicFramePr>
            <a:graphicFrameLocks noGrp="1"/>
          </p:cNvGraphicFramePr>
          <p:nvPr/>
        </p:nvGraphicFramePr>
        <p:xfrm>
          <a:off x="411480" y="1115568"/>
          <a:ext cx="11365992" cy="4681728"/>
        </p:xfrm>
        <a:graphic>
          <a:graphicData uri="http://schemas.openxmlformats.org/drawingml/2006/table">
            <a:tbl>
              <a:tblPr firstRow="1" bandRow="1">
                <a:tableStyleId>{5C22544A-7EE6-4342-B048-85BDC9FD1C3A}</a:tableStyleId>
              </a:tblPr>
              <a:tblGrid>
                <a:gridCol w="3017520"/>
                <a:gridCol w="3017520"/>
                <a:gridCol w="2834640"/>
                <a:gridCol w="2496312"/>
              </a:tblGrid>
              <a:tr h="292608">
                <a:tc>
                  <a:txBody>
                    <a:bodyPr wrap="square" lIns="64008" rIns="64008" tIns="27432" bIns="27432"/>
                    <a:lstStyle/>
                    <a:p>
                      <a:pPr algn="l">
                        <a:lnSpc>
                          <a:spcPct val="100000"/>
                        </a:lnSpc>
                      </a:pPr>
                      <a:r>
                        <a:rPr sz="950" b="1" i="0">
                          <a:solidFill>
                            <a:srgbClr val="FFFFFF"/>
                          </a:solidFill>
                          <a:latin typeface="Calibri"/>
                        </a:rPr>
                        <a:t>Reference</a:t>
                      </a:r>
                    </a:p>
                  </a:txBody>
                  <a:tcPr anchor="ctr">
                    <a:solidFill>
                      <a:srgbClr val="143B5C"/>
                    </a:solidFill>
                  </a:tcPr>
                </a:tc>
                <a:tc>
                  <a:txBody>
                    <a:bodyPr wrap="square" lIns="64008" rIns="64008" tIns="27432" bIns="27432"/>
                    <a:lstStyle/>
                    <a:p>
                      <a:pPr algn="l">
                        <a:lnSpc>
                          <a:spcPct val="100000"/>
                        </a:lnSpc>
                      </a:pPr>
                      <a:r>
                        <a:rPr sz="950" b="1" i="0">
                          <a:solidFill>
                            <a:srgbClr val="FFFFFF"/>
                          </a:solidFill>
                          <a:latin typeface="Calibri"/>
                        </a:rPr>
                        <a:t>System &amp; method</a:t>
                      </a:r>
                    </a:p>
                  </a:txBody>
                  <a:tcPr anchor="ctr">
                    <a:solidFill>
                      <a:srgbClr val="143B5C"/>
                    </a:solidFill>
                  </a:tcPr>
                </a:tc>
                <a:tc>
                  <a:txBody>
                    <a:bodyPr wrap="square" lIns="64008" rIns="64008" tIns="27432" bIns="27432"/>
                    <a:lstStyle/>
                    <a:p>
                      <a:pPr algn="l">
                        <a:lnSpc>
                          <a:spcPct val="100000"/>
                        </a:lnSpc>
                      </a:pPr>
                      <a:r>
                        <a:rPr sz="950" b="1" i="0">
                          <a:solidFill>
                            <a:srgbClr val="FFFFFF"/>
                          </a:solidFill>
                          <a:latin typeface="Calibri"/>
                        </a:rPr>
                        <a:t>What it establishes</a:t>
                      </a:r>
                    </a:p>
                  </a:txBody>
                  <a:tcPr anchor="ctr">
                    <a:solidFill>
                      <a:srgbClr val="143B5C"/>
                    </a:solidFill>
                  </a:tcPr>
                </a:tc>
                <a:tc>
                  <a:txBody>
                    <a:bodyPr wrap="square" lIns="64008" rIns="64008" tIns="27432" bIns="27432"/>
                    <a:lstStyle/>
                    <a:p>
                      <a:pPr algn="l">
                        <a:lnSpc>
                          <a:spcPct val="100000"/>
                        </a:lnSpc>
                      </a:pPr>
                      <a:r>
                        <a:rPr sz="950" b="1" i="0">
                          <a:solidFill>
                            <a:srgbClr val="FFFFFF"/>
                          </a:solidFill>
                          <a:latin typeface="Calibri"/>
                        </a:rPr>
                        <a:t>Limitation for EAF scrap</a:t>
                      </a:r>
                    </a:p>
                  </a:txBody>
                  <a:tcPr anchor="ctr">
                    <a:solidFill>
                      <a:srgbClr val="143B5C"/>
                    </a:solidFill>
                  </a:tcPr>
                </a:tc>
              </a:tr>
              <a:tr h="548640">
                <a:tc>
                  <a:txBody>
                    <a:bodyPr wrap="square" lIns="64008" rIns="64008" tIns="27432" bIns="27432"/>
                    <a:lstStyle/>
                    <a:p>
                      <a:pPr algn="l">
                        <a:lnSpc>
                          <a:spcPct val="95000"/>
                        </a:lnSpc>
                      </a:pPr>
                      <a:r>
                        <a:rPr sz="850" b="1" i="0">
                          <a:solidFill>
                            <a:srgbClr val="143B5C"/>
                          </a:solidFill>
                          <a:latin typeface="Calibri"/>
                        </a:rPr>
                        <a:t>Lu et al. (2015) — Chem. Eng. Sci. 127 (review)</a:t>
                      </a:r>
                    </a:p>
                  </a:txBody>
                  <a:tcPr anchor="ctr">
                    <a:solidFill>
                      <a:srgbClr val="FFFFFF"/>
                    </a:solidFill>
                  </a:tcPr>
                </a:tc>
                <a:tc>
                  <a:txBody>
                    <a:bodyPr wrap="square" lIns="64008" rIns="64008" tIns="27432" bIns="27432"/>
                    <a:lstStyle/>
                    <a:p>
                      <a:pPr algn="l">
                        <a:lnSpc>
                          <a:spcPct val="95000"/>
                        </a:lnSpc>
                      </a:pPr>
                      <a:r>
                        <a:rPr sz="850" b="0" i="0">
                          <a:solidFill>
                            <a:srgbClr val="2B2B2B"/>
                          </a:solidFill>
                          <a:latin typeface="Calibri"/>
                        </a:rPr>
                        <a:t>Non-spherical DEM review: polyhedra, super-quadrics, multi-sphere, voxel, bonded</a:t>
                      </a:r>
                    </a:p>
                  </a:txBody>
                  <a:tcPr anchor="ctr">
                    <a:solidFill>
                      <a:srgbClr val="FFFFFF"/>
                    </a:solidFill>
                  </a:tcPr>
                </a:tc>
                <a:tc>
                  <a:txBody>
                    <a:bodyPr wrap="square" lIns="64008" rIns="64008" tIns="27432" bIns="27432"/>
                    <a:lstStyle/>
                    <a:p>
                      <a:pPr algn="l">
                        <a:lnSpc>
                          <a:spcPct val="95000"/>
                        </a:lnSpc>
                      </a:pPr>
                      <a:r>
                        <a:rPr sz="850" b="0" i="0">
                          <a:solidFill>
                            <a:srgbClr val="2B2B2B"/>
                          </a:solidFill>
                          <a:latin typeface="Calibri"/>
                        </a:rPr>
                        <a:t>Shape representation + contact detection; contact detection can cost &gt;80% of CPU time</a:t>
                      </a:r>
                    </a:p>
                  </a:txBody>
                  <a:tcPr anchor="ctr">
                    <a:solidFill>
                      <a:srgbClr val="FFFFFF"/>
                    </a:solidFill>
                  </a:tcPr>
                </a:tc>
                <a:tc>
                  <a:txBody>
                    <a:bodyPr wrap="square" lIns="64008" rIns="64008" tIns="27432" bIns="27432"/>
                    <a:lstStyle/>
                    <a:p>
                      <a:pPr algn="l">
                        <a:lnSpc>
                          <a:spcPct val="95000"/>
                        </a:lnSpc>
                      </a:pPr>
                      <a:r>
                        <a:rPr sz="850" b="0" i="0">
                          <a:solidFill>
                            <a:srgbClr val="2B2B2B"/>
                          </a:solidFill>
                          <a:latin typeface="Calibri"/>
                        </a:rPr>
                        <a:t>No scrap-specific benchmark; generic granular systems</a:t>
                      </a:r>
                    </a:p>
                  </a:txBody>
                  <a:tcPr anchor="ctr">
                    <a:solidFill>
                      <a:srgbClr val="FFFFFF"/>
                    </a:solidFill>
                  </a:tcPr>
                </a:tc>
              </a:tr>
              <a:tr h="548640">
                <a:tc>
                  <a:txBody>
                    <a:bodyPr wrap="square" lIns="64008" rIns="64008" tIns="27432" bIns="27432"/>
                    <a:lstStyle/>
                    <a:p>
                      <a:pPr algn="l">
                        <a:lnSpc>
                          <a:spcPct val="95000"/>
                        </a:lnSpc>
                      </a:pPr>
                      <a:r>
                        <a:rPr sz="850" b="1" i="0">
                          <a:solidFill>
                            <a:srgbClr val="143B5C"/>
                          </a:solidFill>
                          <a:latin typeface="Calibri"/>
                        </a:rPr>
                        <a:t>Zhong et al. (2016) — Powder Technol. 300 (review)</a:t>
                      </a:r>
                    </a:p>
                  </a:txBody>
                  <a:tcPr anchor="ctr">
                    <a:solidFill>
                      <a:srgbClr val="F5F9FC"/>
                    </a:solidFill>
                  </a:tcPr>
                </a:tc>
                <a:tc>
                  <a:txBody>
                    <a:bodyPr wrap="square" lIns="64008" rIns="64008" tIns="27432" bIns="27432"/>
                    <a:lstStyle/>
                    <a:p>
                      <a:pPr algn="l">
                        <a:lnSpc>
                          <a:spcPct val="95000"/>
                        </a:lnSpc>
                      </a:pPr>
                      <a:r>
                        <a:rPr sz="850" b="0" i="0">
                          <a:solidFill>
                            <a:srgbClr val="2B2B2B"/>
                          </a:solidFill>
                          <a:latin typeface="Calibri"/>
                        </a:rPr>
                        <a:t>DEM / CFD-DEM review: AVM vs. immersed-family coupling</a:t>
                      </a:r>
                    </a:p>
                  </a:txBody>
                  <a:tcPr anchor="ctr">
                    <a:solidFill>
                      <a:srgbClr val="F5F9FC"/>
                    </a:solidFill>
                  </a:tcPr>
                </a:tc>
                <a:tc>
                  <a:txBody>
                    <a:bodyPr wrap="square" lIns="64008" rIns="64008" tIns="27432" bIns="27432"/>
                    <a:lstStyle/>
                    <a:p>
                      <a:pPr algn="l">
                        <a:lnSpc>
                          <a:spcPct val="95000"/>
                        </a:lnSpc>
                      </a:pPr>
                      <a:r>
                        <a:rPr sz="850" b="0" i="0">
                          <a:solidFill>
                            <a:srgbClr val="2B2B2B"/>
                          </a:solidFill>
                          <a:latin typeface="Calibri"/>
                        </a:rPr>
                        <a:t>No single best method; hybrid averaged + resolved strategies</a:t>
                      </a:r>
                    </a:p>
                  </a:txBody>
                  <a:tcPr anchor="ctr">
                    <a:solidFill>
                      <a:srgbClr val="F5F9FC"/>
                    </a:solidFill>
                  </a:tcPr>
                </a:tc>
                <a:tc>
                  <a:txBody>
                    <a:bodyPr wrap="square" lIns="64008" rIns="64008" tIns="27432" bIns="27432"/>
                    <a:lstStyle/>
                    <a:p>
                      <a:pPr algn="l">
                        <a:lnSpc>
                          <a:spcPct val="95000"/>
                        </a:lnSpc>
                      </a:pPr>
                      <a:r>
                        <a:rPr sz="850" b="0" i="0">
                          <a:solidFill>
                            <a:srgbClr val="2B2B2B"/>
                          </a:solidFill>
                          <a:latin typeface="Calibri"/>
                        </a:rPr>
                        <a:t>Generic particulate flows, not scrap handling</a:t>
                      </a:r>
                    </a:p>
                  </a:txBody>
                  <a:tcPr anchor="ctr">
                    <a:solidFill>
                      <a:srgbClr val="F5F9FC"/>
                    </a:solidFill>
                  </a:tcPr>
                </a:tc>
              </a:tr>
              <a:tr h="548640">
                <a:tc>
                  <a:txBody>
                    <a:bodyPr wrap="square" lIns="64008" rIns="64008" tIns="27432" bIns="27432"/>
                    <a:lstStyle/>
                    <a:p>
                      <a:pPr algn="l">
                        <a:lnSpc>
                          <a:spcPct val="95000"/>
                        </a:lnSpc>
                      </a:pPr>
                      <a:r>
                        <a:rPr sz="850" b="1" i="0">
                          <a:solidFill>
                            <a:srgbClr val="143B5C"/>
                          </a:solidFill>
                          <a:latin typeface="Calibri"/>
                        </a:rPr>
                        <a:t>Ahmed et al. (2026) — Powder Technol. (Tata Steel IJmuiden)</a:t>
                      </a:r>
                    </a:p>
                  </a:txBody>
                  <a:tcPr anchor="ctr">
                    <a:solidFill>
                      <a:srgbClr val="FFFFFF"/>
                    </a:solidFill>
                  </a:tcPr>
                </a:tc>
                <a:tc>
                  <a:txBody>
                    <a:bodyPr wrap="square" lIns="64008" rIns="64008" tIns="27432" bIns="27432"/>
                    <a:lstStyle/>
                    <a:p>
                      <a:pPr algn="l">
                        <a:lnSpc>
                          <a:spcPct val="95000"/>
                        </a:lnSpc>
                      </a:pPr>
                      <a:r>
                        <a:rPr sz="850" b="0" i="0">
                          <a:solidFill>
                            <a:srgbClr val="2B2B2B"/>
                          </a:solidFill>
                          <a:latin typeface="Calibri"/>
                        </a:rPr>
                        <a:t>Industrial BF charging: skip car → top hopper, actual plant geometry</a:t>
                      </a:r>
                    </a:p>
                  </a:txBody>
                  <a:tcPr anchor="ctr">
                    <a:solidFill>
                      <a:srgbClr val="FFFFFF"/>
                    </a:solidFill>
                  </a:tcPr>
                </a:tc>
                <a:tc>
                  <a:txBody>
                    <a:bodyPr wrap="square" lIns="64008" rIns="64008" tIns="27432" bIns="27432"/>
                    <a:lstStyle/>
                    <a:p>
                      <a:pPr algn="l">
                        <a:lnSpc>
                          <a:spcPct val="95000"/>
                        </a:lnSpc>
                      </a:pPr>
                      <a:r>
                        <a:rPr sz="850" b="0" i="0">
                          <a:solidFill>
                            <a:srgbClr val="2B2B2B"/>
                          </a:solidFill>
                          <a:latin typeface="Calibri"/>
                        </a:rPr>
                        <a:t>Plant-faithful DEM; ferrous-burden segregation lowers throat permeability</a:t>
                      </a:r>
                    </a:p>
                  </a:txBody>
                  <a:tcPr anchor="ctr">
                    <a:solidFill>
                      <a:srgbClr val="FFFFFF"/>
                    </a:solidFill>
                  </a:tcPr>
                </a:tc>
                <a:tc>
                  <a:txBody>
                    <a:bodyPr wrap="square" lIns="64008" rIns="64008" tIns="27432" bIns="27432"/>
                    <a:lstStyle/>
                    <a:p>
                      <a:pPr algn="l">
                        <a:lnSpc>
                          <a:spcPct val="95000"/>
                        </a:lnSpc>
                      </a:pPr>
                      <a:r>
                        <a:rPr sz="850" b="0" i="0">
                          <a:solidFill>
                            <a:srgbClr val="2B2B2B"/>
                          </a:solidFill>
                          <a:latin typeface="Calibri"/>
                        </a:rPr>
                        <a:t>Uniform BF burden (ore/sinter) — not heterogeneous EAF scrap</a:t>
                      </a:r>
                    </a:p>
                  </a:txBody>
                  <a:tcPr anchor="ctr">
                    <a:solidFill>
                      <a:srgbClr val="FFFFFF"/>
                    </a:solidFill>
                  </a:tcPr>
                </a:tc>
              </a:tr>
              <a:tr h="548640">
                <a:tc>
                  <a:txBody>
                    <a:bodyPr wrap="square" lIns="64008" rIns="64008" tIns="27432" bIns="27432"/>
                    <a:lstStyle/>
                    <a:p>
                      <a:pPr algn="l">
                        <a:lnSpc>
                          <a:spcPct val="95000"/>
                        </a:lnSpc>
                      </a:pPr>
                      <a:r>
                        <a:rPr sz="850" b="1" i="0">
                          <a:solidFill>
                            <a:srgbClr val="143B5C"/>
                          </a:solidFill>
                          <a:latin typeface="Calibri"/>
                        </a:rPr>
                        <a:t>Rossow &amp; Coetzee (2021) — Powder Technol. 391</a:t>
                      </a:r>
                    </a:p>
                  </a:txBody>
                  <a:tcPr anchor="ctr">
                    <a:solidFill>
                      <a:srgbClr val="F5F9FC"/>
                    </a:solidFill>
                  </a:tcPr>
                </a:tc>
                <a:tc>
                  <a:txBody>
                    <a:bodyPr wrap="square" lIns="64008" rIns="64008" tIns="27432" bIns="27432"/>
                    <a:lstStyle/>
                    <a:p>
                      <a:pPr algn="l">
                        <a:lnSpc>
                          <a:spcPct val="95000"/>
                        </a:lnSpc>
                      </a:pPr>
                      <a:r>
                        <a:rPr sz="850" b="0" i="0">
                          <a:solidFill>
                            <a:srgbClr val="2B2B2B"/>
                          </a:solidFill>
                          <a:latin typeface="Calibri"/>
                        </a:rPr>
                        <a:t>Chevron belt + transfer chute, multi-sphere particles, high-speed validation</a:t>
                      </a:r>
                    </a:p>
                  </a:txBody>
                  <a:tcPr anchor="ctr">
                    <a:solidFill>
                      <a:srgbClr val="F5F9FC"/>
                    </a:solidFill>
                  </a:tcPr>
                </a:tc>
                <a:tc>
                  <a:txBody>
                    <a:bodyPr wrap="square" lIns="64008" rIns="64008" tIns="27432" bIns="27432"/>
                    <a:lstStyle/>
                    <a:p>
                      <a:pPr algn="l">
                        <a:lnSpc>
                          <a:spcPct val="95000"/>
                        </a:lnSpc>
                      </a:pPr>
                      <a:r>
                        <a:rPr sz="850" b="0" i="0">
                          <a:solidFill>
                            <a:srgbClr val="2B2B2B"/>
                          </a:solidFill>
                          <a:latin typeface="Calibri"/>
                        </a:rPr>
                        <a:t>Quantified DEM accuracy &amp; upscaling limits (≤1.6×)</a:t>
                      </a:r>
                    </a:p>
                  </a:txBody>
                  <a:tcPr anchor="ctr">
                    <a:solidFill>
                      <a:srgbClr val="F5F9FC"/>
                    </a:solidFill>
                  </a:tcPr>
                </a:tc>
                <a:tc>
                  <a:txBody>
                    <a:bodyPr wrap="square" lIns="64008" rIns="64008" tIns="27432" bIns="27432"/>
                    <a:lstStyle/>
                    <a:p>
                      <a:pPr algn="l">
                        <a:lnSpc>
                          <a:spcPct val="95000"/>
                        </a:lnSpc>
                      </a:pPr>
                      <a:r>
                        <a:rPr sz="850" b="0" i="0">
                          <a:solidFill>
                            <a:srgbClr val="2B2B2B"/>
                          </a:solidFill>
                          <a:latin typeface="Calibri"/>
                        </a:rPr>
                        <a:t>Lab-scale corn grains, non-cohesive</a:t>
                      </a:r>
                    </a:p>
                  </a:txBody>
                  <a:tcPr anchor="ctr">
                    <a:solidFill>
                      <a:srgbClr val="F5F9FC"/>
                    </a:solidFill>
                  </a:tcPr>
                </a:tc>
              </a:tr>
              <a:tr h="548640">
                <a:tc>
                  <a:txBody>
                    <a:bodyPr wrap="square" lIns="64008" rIns="64008" tIns="27432" bIns="27432"/>
                    <a:lstStyle/>
                    <a:p>
                      <a:pPr algn="l">
                        <a:lnSpc>
                          <a:spcPct val="95000"/>
                        </a:lnSpc>
                      </a:pPr>
                      <a:r>
                        <a:rPr sz="850" b="1" i="0">
                          <a:solidFill>
                            <a:srgbClr val="143B5C"/>
                          </a:solidFill>
                          <a:latin typeface="Calibri"/>
                        </a:rPr>
                        <a:t>Schefler &amp; Coetzee (2023) — Minerals 13:1501</a:t>
                      </a:r>
                    </a:p>
                  </a:txBody>
                  <a:tcPr anchor="ctr">
                    <a:solidFill>
                      <a:srgbClr val="FFFFFF"/>
                    </a:solidFill>
                  </a:tcPr>
                </a:tc>
                <a:tc>
                  <a:txBody>
                    <a:bodyPr wrap="square" lIns="64008" rIns="64008" tIns="27432" bIns="27432"/>
                    <a:lstStyle/>
                    <a:p>
                      <a:pPr algn="l">
                        <a:lnSpc>
                          <a:spcPct val="95000"/>
                        </a:lnSpc>
                      </a:pPr>
                      <a:r>
                        <a:rPr sz="850" b="0" i="0">
                          <a:solidFill>
                            <a:srgbClr val="2B2B2B"/>
                          </a:solidFill>
                          <a:latin typeface="Calibri"/>
                        </a:rPr>
                        <a:t>Cohesive material: belt → inclined impact plate</a:t>
                      </a:r>
                    </a:p>
                  </a:txBody>
                  <a:tcPr anchor="ctr">
                    <a:solidFill>
                      <a:srgbClr val="FFFFFF"/>
                    </a:solidFill>
                  </a:tcPr>
                </a:tc>
                <a:tc>
                  <a:txBody>
                    <a:bodyPr wrap="square" lIns="64008" rIns="64008" tIns="27432" bIns="27432"/>
                    <a:lstStyle/>
                    <a:p>
                      <a:pPr algn="l">
                        <a:lnSpc>
                          <a:spcPct val="95000"/>
                        </a:lnSpc>
                      </a:pPr>
                      <a:r>
                        <a:rPr sz="850" b="0" i="0">
                          <a:solidFill>
                            <a:srgbClr val="2B2B2B"/>
                          </a:solidFill>
                          <a:latin typeface="Calibri"/>
                        </a:rPr>
                        <a:t>Upscaled cohesive discharge: force &amp; residual mass &lt;15% error</a:t>
                      </a:r>
                    </a:p>
                  </a:txBody>
                  <a:tcPr anchor="ctr">
                    <a:solidFill>
                      <a:srgbClr val="FFFFFF"/>
                    </a:solidFill>
                  </a:tcPr>
                </a:tc>
                <a:tc>
                  <a:txBody>
                    <a:bodyPr wrap="square" lIns="64008" rIns="64008" tIns="27432" bIns="27432"/>
                    <a:lstStyle/>
                    <a:p>
                      <a:pPr algn="l">
                        <a:lnSpc>
                          <a:spcPct val="95000"/>
                        </a:lnSpc>
                      </a:pPr>
                      <a:r>
                        <a:rPr sz="850" b="0" i="0">
                          <a:solidFill>
                            <a:srgbClr val="2B2B2B"/>
                          </a:solidFill>
                          <a:latin typeface="Calibri"/>
                        </a:rPr>
                        <a:t>Lab-scale sand; single material</a:t>
                      </a:r>
                    </a:p>
                  </a:txBody>
                  <a:tcPr anchor="ctr">
                    <a:solidFill>
                      <a:srgbClr val="FFFFFF"/>
                    </a:solidFill>
                  </a:tcPr>
                </a:tc>
              </a:tr>
              <a:tr h="548640">
                <a:tc>
                  <a:txBody>
                    <a:bodyPr wrap="square" lIns="64008" rIns="64008" tIns="27432" bIns="27432"/>
                    <a:lstStyle/>
                    <a:p>
                      <a:pPr algn="l">
                        <a:lnSpc>
                          <a:spcPct val="95000"/>
                        </a:lnSpc>
                      </a:pPr>
                      <a:r>
                        <a:rPr sz="850" b="1" i="0">
                          <a:solidFill>
                            <a:srgbClr val="143B5C"/>
                          </a:solidFill>
                          <a:latin typeface="Calibri"/>
                        </a:rPr>
                        <a:t>You et al. (2018) — Powder Technol.</a:t>
                      </a:r>
                    </a:p>
                  </a:txBody>
                  <a:tcPr anchor="ctr">
                    <a:solidFill>
                      <a:srgbClr val="F5F9FC"/>
                    </a:solidFill>
                  </a:tcPr>
                </a:tc>
                <a:tc>
                  <a:txBody>
                    <a:bodyPr wrap="square" lIns="64008" rIns="64008" tIns="27432" bIns="27432"/>
                    <a:lstStyle/>
                    <a:p>
                      <a:pPr algn="l">
                        <a:lnSpc>
                          <a:spcPct val="95000"/>
                        </a:lnSpc>
                      </a:pPr>
                      <a:r>
                        <a:rPr sz="850" b="0" i="0">
                          <a:solidFill>
                            <a:srgbClr val="2B2B2B"/>
                          </a:solidFill>
                          <a:latin typeface="Calibri"/>
                        </a:rPr>
                        <a:t>Inclined vibrating plate, super-ellipsoids + spheres</a:t>
                      </a:r>
                    </a:p>
                  </a:txBody>
                  <a:tcPr anchor="ctr">
                    <a:solidFill>
                      <a:srgbClr val="F5F9FC"/>
                    </a:solidFill>
                  </a:tcPr>
                </a:tc>
                <a:tc>
                  <a:txBody>
                    <a:bodyPr wrap="square" lIns="64008" rIns="64008" tIns="27432" bIns="27432"/>
                    <a:lstStyle/>
                    <a:p>
                      <a:pPr algn="l">
                        <a:lnSpc>
                          <a:spcPct val="95000"/>
                        </a:lnSpc>
                      </a:pPr>
                      <a:r>
                        <a:rPr sz="850" b="0" i="0">
                          <a:solidFill>
                            <a:srgbClr val="2B2B2B"/>
                          </a:solidFill>
                          <a:latin typeface="Calibri"/>
                        </a:rPr>
                        <a:t>Frequency/amplitude → sorting &amp; segregation; (2πf)²A ≈ 1.5g</a:t>
                      </a:r>
                    </a:p>
                  </a:txBody>
                  <a:tcPr anchor="ctr">
                    <a:solidFill>
                      <a:srgbClr val="F5F9FC"/>
                    </a:solidFill>
                  </a:tcPr>
                </a:tc>
                <a:tc>
                  <a:txBody>
                    <a:bodyPr wrap="square" lIns="64008" rIns="64008" tIns="27432" bIns="27432"/>
                    <a:lstStyle/>
                    <a:p>
                      <a:pPr algn="l">
                        <a:lnSpc>
                          <a:spcPct val="95000"/>
                        </a:lnSpc>
                      </a:pPr>
                      <a:r>
                        <a:rPr sz="850" b="0" i="0">
                          <a:solidFill>
                            <a:srgbClr val="2B2B2B"/>
                          </a:solidFill>
                          <a:latin typeface="Calibri"/>
                        </a:rPr>
                        <a:t>Lab-scale idealised shapes</a:t>
                      </a:r>
                    </a:p>
                  </a:txBody>
                  <a:tcPr anchor="ctr">
                    <a:solidFill>
                      <a:srgbClr val="F5F9FC"/>
                    </a:solidFill>
                  </a:tcPr>
                </a:tc>
              </a:tr>
              <a:tr h="548640">
                <a:tc>
                  <a:txBody>
                    <a:bodyPr wrap="square" lIns="64008" rIns="64008" tIns="27432" bIns="27432"/>
                    <a:lstStyle/>
                    <a:p>
                      <a:pPr algn="l">
                        <a:lnSpc>
                          <a:spcPct val="95000"/>
                        </a:lnSpc>
                      </a:pPr>
                      <a:r>
                        <a:rPr sz="850" b="1" i="0">
                          <a:solidFill>
                            <a:srgbClr val="143B5C"/>
                          </a:solidFill>
                          <a:latin typeface="Calibri"/>
                        </a:rPr>
                        <a:t>Chen et al. (2022) — Metall. Mater. Trans. B</a:t>
                      </a:r>
                    </a:p>
                  </a:txBody>
                  <a:tcPr anchor="ctr">
                    <a:solidFill>
                      <a:srgbClr val="FFFFFF"/>
                    </a:solidFill>
                  </a:tcPr>
                </a:tc>
                <a:tc>
                  <a:txBody>
                    <a:bodyPr wrap="square" lIns="64008" rIns="64008" tIns="27432" bIns="27432"/>
                    <a:lstStyle/>
                    <a:p>
                      <a:pPr algn="l">
                        <a:lnSpc>
                          <a:spcPct val="95000"/>
                        </a:lnSpc>
                      </a:pPr>
                      <a:r>
                        <a:rPr sz="850" b="0" i="0">
                          <a:solidFill>
                            <a:srgbClr val="2B2B2B"/>
                          </a:solidFill>
                          <a:latin typeface="Calibri"/>
                        </a:rPr>
                        <a:t>3D CFD of AC-EAF scrap melting, dual-cell + stack, NLMK 150-t EAF</a:t>
                      </a:r>
                    </a:p>
                  </a:txBody>
                  <a:tcPr anchor="ctr">
                    <a:solidFill>
                      <a:srgbClr val="FFFFFF"/>
                    </a:solidFill>
                  </a:tcPr>
                </a:tc>
                <a:tc>
                  <a:txBody>
                    <a:bodyPr wrap="square" lIns="64008" rIns="64008" tIns="27432" bIns="27432"/>
                    <a:lstStyle/>
                    <a:p>
                      <a:pPr algn="l">
                        <a:lnSpc>
                          <a:spcPct val="95000"/>
                        </a:lnSpc>
                      </a:pPr>
                      <a:r>
                        <a:rPr sz="850" b="0" i="0">
                          <a:solidFill>
                            <a:srgbClr val="2B2B2B"/>
                          </a:solidFill>
                          <a:latin typeface="Calibri"/>
                        </a:rPr>
                        <a:t>Melting, arc &amp; burner physics well resolved and industrially validated</a:t>
                      </a:r>
                    </a:p>
                  </a:txBody>
                  <a:tcPr anchor="ctr">
                    <a:solidFill>
                      <a:srgbClr val="FFFFFF"/>
                    </a:solidFill>
                  </a:tcPr>
                </a:tc>
                <a:tc>
                  <a:txBody>
                    <a:bodyPr wrap="square" lIns="64008" rIns="64008" tIns="27432" bIns="27432"/>
                    <a:lstStyle/>
                    <a:p>
                      <a:pPr algn="l">
                        <a:lnSpc>
                          <a:spcPct val="95000"/>
                        </a:lnSpc>
                      </a:pPr>
                      <a:r>
                        <a:rPr sz="850" b="0" i="0">
                          <a:solidFill>
                            <a:srgbClr val="2B2B2B"/>
                          </a:solidFill>
                          <a:latin typeface="Calibri"/>
                        </a:rPr>
                        <a:t>Scrap enters as a lumped input — infeed dynamics not resolved</a:t>
                      </a:r>
                    </a:p>
                  </a:txBody>
                  <a:tcPr anchor="ctr">
                    <a:solidFill>
                      <a:srgbClr val="FFFFFF"/>
                    </a:solidFill>
                  </a:tcPr>
                </a:tc>
              </a:tr>
              <a:tr h="548640">
                <a:tc>
                  <a:txBody>
                    <a:bodyPr wrap="square" lIns="64008" rIns="64008" tIns="27432" bIns="27432"/>
                    <a:lstStyle/>
                    <a:p>
                      <a:pPr algn="l">
                        <a:lnSpc>
                          <a:spcPct val="95000"/>
                        </a:lnSpc>
                      </a:pPr>
                      <a:r>
                        <a:rPr sz="850" b="1" i="0">
                          <a:solidFill>
                            <a:srgbClr val="143B5C"/>
                          </a:solidFill>
                          <a:latin typeface="Calibri"/>
                        </a:rPr>
                        <a:t>Li, Provatas &amp; Irons (2008) — AISTech</a:t>
                      </a:r>
                    </a:p>
                  </a:txBody>
                  <a:tcPr anchor="ctr">
                    <a:solidFill>
                      <a:srgbClr val="F5F9FC"/>
                    </a:solidFill>
                  </a:tcPr>
                </a:tc>
                <a:tc>
                  <a:txBody>
                    <a:bodyPr wrap="square" lIns="64008" rIns="64008" tIns="27432" bIns="27432"/>
                    <a:lstStyle/>
                    <a:p>
                      <a:pPr algn="l">
                        <a:lnSpc>
                          <a:spcPct val="95000"/>
                        </a:lnSpc>
                      </a:pPr>
                      <a:r>
                        <a:rPr sz="850" b="0" i="0">
                          <a:solidFill>
                            <a:srgbClr val="2B2B2B"/>
                          </a:solidFill>
                          <a:latin typeface="Calibri"/>
                        </a:rPr>
                        <a:t>Phase-field modelling of late melting in the EAF heel</a:t>
                      </a:r>
                    </a:p>
                  </a:txBody>
                  <a:tcPr anchor="ctr">
                    <a:solidFill>
                      <a:srgbClr val="F5F9FC"/>
                    </a:solidFill>
                  </a:tcPr>
                </a:tc>
                <a:tc>
                  <a:txBody>
                    <a:bodyPr wrap="square" lIns="64008" rIns="64008" tIns="27432" bIns="27432"/>
                    <a:lstStyle/>
                    <a:p>
                      <a:pPr algn="l">
                        <a:lnSpc>
                          <a:spcPct val="95000"/>
                        </a:lnSpc>
                      </a:pPr>
                      <a:r>
                        <a:rPr sz="850" b="0" i="0">
                          <a:solidFill>
                            <a:srgbClr val="2B2B2B"/>
                          </a:solidFill>
                          <a:latin typeface="Calibri"/>
                        </a:rPr>
                        <a:t>“Steel iceberg” formation dominates late melting; size, preheat &amp; convection effects</a:t>
                      </a:r>
                    </a:p>
                  </a:txBody>
                  <a:tcPr anchor="ctr">
                    <a:solidFill>
                      <a:srgbClr val="F5F9FC"/>
                    </a:solidFill>
                  </a:tcPr>
                </a:tc>
                <a:tc>
                  <a:txBody>
                    <a:bodyPr wrap="square" lIns="64008" rIns="64008" tIns="27432" bIns="27432"/>
                    <a:lstStyle/>
                    <a:p>
                      <a:pPr algn="l">
                        <a:lnSpc>
                          <a:spcPct val="95000"/>
                        </a:lnSpc>
                      </a:pPr>
                      <a:r>
                        <a:rPr sz="850" b="0" i="0">
                          <a:solidFill>
                            <a:srgbClr val="2B2B2B"/>
                          </a:solidFill>
                          <a:latin typeface="Calibri"/>
                        </a:rPr>
                        <a:t>Post-charge physics — scrap assumed already in the furnace</a:t>
                      </a:r>
                    </a:p>
                  </a:txBody>
                  <a:tcPr anchor="ctr">
                    <a:solidFill>
                      <a:srgbClr val="F5F9FC"/>
                    </a:solidFill>
                  </a:tcPr>
                </a:tc>
              </a:tr>
            </a:tbl>
          </a:graphicData>
        </a:graphic>
      </p:graphicFrame>
      <p:sp>
        <p:nvSpPr>
          <p:cNvPr id="8" name="TextBox 7"/>
          <p:cNvSpPr txBox="1"/>
          <p:nvPr/>
        </p:nvSpPr>
        <p:spPr>
          <a:xfrm>
            <a:off x="411480" y="6144768"/>
            <a:ext cx="11365992" cy="320040"/>
          </a:xfrm>
          <a:prstGeom prst="rect">
            <a:avLst/>
          </a:prstGeom>
          <a:noFill/>
        </p:spPr>
        <p:txBody>
          <a:bodyPr wrap="square" lIns="0" rIns="0" tIns="0" bIns="0">
            <a:spAutoFit/>
          </a:bodyPr>
          <a:lstStyle/>
          <a:p>
            <a:pPr algn="l">
              <a:lnSpc>
                <a:spcPct val="100000"/>
              </a:lnSpc>
              <a:spcBef>
                <a:spcPts val="0"/>
              </a:spcBef>
              <a:spcAft>
                <a:spcPts val="400"/>
              </a:spcAft>
            </a:pPr>
            <a:r>
              <a:rPr sz="1000" b="1" i="0">
                <a:solidFill>
                  <a:srgbClr val="143B5C"/>
                </a:solidFill>
                <a:latin typeface="Calibri"/>
              </a:rPr>
              <a:t>Pattern: DEM for conveyors/chutes is mature and validated — EAF CFD is mature and validated — the mechanical charging stage in between is the weak link.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11338560" cy="777240"/>
          </a:xfrm>
          <a:prstGeom prst="rect">
            <a:avLst/>
          </a:prstGeom>
          <a:noFill/>
        </p:spPr>
        <p:txBody>
          <a:bodyPr wrap="square" lIns="0" rIns="0" tIns="0" bIns="0">
            <a:spAutoFit/>
          </a:bodyPr>
          <a:lstStyle/>
          <a:p>
            <a:pPr algn="l">
              <a:lnSpc>
                <a:spcPct val="100000"/>
              </a:lnSpc>
              <a:spcBef>
                <a:spcPts val="0"/>
              </a:spcBef>
              <a:spcAft>
                <a:spcPts val="200"/>
              </a:spcAft>
            </a:pPr>
            <a:r>
              <a:rPr sz="1050" b="1" i="0">
                <a:solidFill>
                  <a:srgbClr val="00A4E4"/>
                </a:solidFill>
                <a:latin typeface="Calibri"/>
              </a:rPr>
              <a:t>TOPIC 2 — CURRENT STATE OF THE ART &amp; KNOWLEDGE GAPS</a:t>
            </a:r>
          </a:p>
          <a:p>
            <a:pPr algn="l">
              <a:lnSpc>
                <a:spcPct val="98000"/>
              </a:lnSpc>
              <a:spcBef>
                <a:spcPts val="0"/>
              </a:spcBef>
              <a:spcAft>
                <a:spcPts val="0"/>
              </a:spcAft>
            </a:pPr>
            <a:r>
              <a:rPr sz="2500" b="1" i="0">
                <a:solidFill>
                  <a:srgbClr val="143B5C"/>
                </a:solidFill>
                <a:latin typeface="Calibri"/>
              </a:rPr>
              <a:t>The Key Industry Knowledge Gaps</a:t>
            </a:r>
          </a:p>
        </p:txBody>
      </p:sp>
      <p:sp>
        <p:nvSpPr>
          <p:cNvPr id="3" name="Rectangle 2"/>
          <p:cNvSpPr/>
          <p:nvPr/>
        </p:nvSpPr>
        <p:spPr>
          <a:xfrm>
            <a:off x="429768" y="969264"/>
            <a:ext cx="1234440" cy="4114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6510528"/>
            <a:ext cx="1136599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56248"/>
            <a:ext cx="8686800" cy="274320"/>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Particle-Based Modelling of Scrap Handling for Green Steel Production  •  TU Delft × Tata Steel Netherlands</a:t>
            </a:r>
          </a:p>
        </p:txBody>
      </p:sp>
      <p:sp>
        <p:nvSpPr>
          <p:cNvPr id="6" name="TextBox 5"/>
          <p:cNvSpPr txBox="1"/>
          <p:nvPr/>
        </p:nvSpPr>
        <p:spPr>
          <a:xfrm>
            <a:off x="10972800" y="6556248"/>
            <a:ext cx="804672" cy="274320"/>
          </a:xfrm>
          <a:prstGeom prst="rect">
            <a:avLst/>
          </a:prstGeom>
          <a:noFill/>
        </p:spPr>
        <p:txBody>
          <a:bodyPr wrap="square" lIns="0" rIns="0" tIns="0" bIns="0">
            <a:spAutoFit/>
          </a:bodyPr>
          <a:lstStyle/>
          <a:p>
            <a:pPr algn="r">
              <a:lnSpc>
                <a:spcPct val="100000"/>
              </a:lnSpc>
              <a:spcBef>
                <a:spcPts val="0"/>
              </a:spcBef>
              <a:spcAft>
                <a:spcPts val="400"/>
              </a:spcAft>
            </a:pPr>
            <a:r>
              <a:rPr sz="900" b="1" i="0">
                <a:solidFill>
                  <a:srgbClr val="6B6B6B"/>
                </a:solidFill>
                <a:latin typeface="Calibri"/>
              </a:rPr>
              <a:t>6</a:t>
            </a:r>
          </a:p>
        </p:txBody>
      </p:sp>
      <p:sp>
        <p:nvSpPr>
          <p:cNvPr id="7" name="Rounded Rectangle 6"/>
          <p:cNvSpPr/>
          <p:nvPr/>
        </p:nvSpPr>
        <p:spPr>
          <a:xfrm>
            <a:off x="411480" y="1133856"/>
            <a:ext cx="5596128" cy="2084831"/>
          </a:xfrm>
          <a:prstGeom prst="roundRect">
            <a:avLst>
              <a:gd name="adj" fmla="val 4500"/>
            </a:avLst>
          </a:prstGeom>
          <a:solidFill>
            <a:srgbClr val="EAF4FB"/>
          </a:solidFill>
          <a:ln w="1778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1261872"/>
            <a:ext cx="5285232" cy="1828800"/>
          </a:xfrm>
          <a:prstGeom prst="rect">
            <a:avLst/>
          </a:prstGeom>
          <a:noFill/>
        </p:spPr>
        <p:txBody>
          <a:bodyPr wrap="square" lIns="0" rIns="0" tIns="0" bIns="0">
            <a:spAutoFit/>
          </a:bodyPr>
          <a:lstStyle/>
          <a:p>
            <a:pPr>
              <a:spcAft>
                <a:spcPts val="500"/>
              </a:spcAft>
            </a:pPr>
            <a:r>
              <a:rPr sz="1100" b="1" i="0">
                <a:solidFill>
                  <a:srgbClr val="E8A33D"/>
                </a:solidFill>
                <a:latin typeface="Calibri"/>
              </a:rPr>
              <a:t>GAP 1  </a:t>
            </a:r>
            <a:r>
              <a:rPr sz="1450" b="1" i="0">
                <a:solidFill>
                  <a:srgbClr val="143B5C"/>
                </a:solidFill>
                <a:latin typeface="Calibri"/>
              </a:rPr>
              <a:t>Material heterogeneity</a:t>
            </a:r>
          </a:p>
          <a:p>
            <a:pPr>
              <a:lnSpc>
                <a:spcPct val="104000"/>
              </a:lnSpc>
            </a:pPr>
            <a:r>
              <a:rPr sz="1050" b="0" i="0">
                <a:solidFill>
                  <a:srgbClr val="2B2B2B"/>
                </a:solidFill>
                <a:latin typeface="Calibri"/>
              </a:rPr>
              <a:t>Heavy melting scrap (bundles up to metres, dense, low porosity) vs. shredded &amp; baled scrap (cm-scale, light, porous, high surface area). Multi-material recipes combine very different shape, size, bulk density and chemistry — no particle-level model yet resolves the whole stream.</a:t>
            </a:r>
          </a:p>
        </p:txBody>
      </p:sp>
      <p:sp>
        <p:nvSpPr>
          <p:cNvPr id="9" name="Rounded Rectangle 8"/>
          <p:cNvSpPr/>
          <p:nvPr/>
        </p:nvSpPr>
        <p:spPr>
          <a:xfrm>
            <a:off x="6181344" y="1133856"/>
            <a:ext cx="5596128" cy="2084831"/>
          </a:xfrm>
          <a:prstGeom prst="roundRect">
            <a:avLst>
              <a:gd name="adj" fmla="val 4500"/>
            </a:avLst>
          </a:prstGeom>
          <a:solidFill>
            <a:srgbClr val="EAF4FB"/>
          </a:solidFill>
          <a:ln w="1778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1261872"/>
            <a:ext cx="5285232" cy="1828800"/>
          </a:xfrm>
          <a:prstGeom prst="rect">
            <a:avLst/>
          </a:prstGeom>
          <a:noFill/>
        </p:spPr>
        <p:txBody>
          <a:bodyPr wrap="square" lIns="0" rIns="0" tIns="0" bIns="0">
            <a:spAutoFit/>
          </a:bodyPr>
          <a:lstStyle/>
          <a:p>
            <a:pPr>
              <a:spcAft>
                <a:spcPts val="500"/>
              </a:spcAft>
            </a:pPr>
            <a:r>
              <a:rPr sz="1100" b="1" i="0">
                <a:solidFill>
                  <a:srgbClr val="E8A33D"/>
                </a:solidFill>
                <a:latin typeface="Calibri"/>
              </a:rPr>
              <a:t>GAP 2  </a:t>
            </a:r>
            <a:r>
              <a:rPr sz="1450" b="1" i="0">
                <a:solidFill>
                  <a:srgbClr val="143B5C"/>
                </a:solidFill>
                <a:latin typeface="Calibri"/>
              </a:rPr>
              <a:t>Real-time co-segregation in continuous feeding</a:t>
            </a:r>
          </a:p>
          <a:p>
            <a:pPr>
              <a:lnSpc>
                <a:spcPct val="104000"/>
              </a:lnSpc>
            </a:pPr>
            <a:r>
              <a:rPr sz="1050" b="0" i="0">
                <a:solidFill>
                  <a:srgbClr val="2B2B2B"/>
                </a:solidFill>
                <a:latin typeface="Calibri"/>
              </a:rPr>
              <a:t>How does heterogeneity segregate during vibratory feeding and chute transfer? If fine scrap blocks the chute or heavy bundles drop unpredictably, the charge layers unevenly → thermal imbalances, energy spikes and late melting (“steel icebergs”) in the EAF.</a:t>
            </a:r>
          </a:p>
        </p:txBody>
      </p:sp>
      <p:sp>
        <p:nvSpPr>
          <p:cNvPr id="11" name="Rounded Rectangle 10"/>
          <p:cNvSpPr/>
          <p:nvPr/>
        </p:nvSpPr>
        <p:spPr>
          <a:xfrm>
            <a:off x="411480" y="3456432"/>
            <a:ext cx="3675887" cy="1847088"/>
          </a:xfrm>
          <a:prstGeom prst="roundRect">
            <a:avLst>
              <a:gd name="adj" fmla="val 4500"/>
            </a:avLst>
          </a:prstGeom>
          <a:solidFill>
            <a:srgbClr val="F5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 y="3584448"/>
            <a:ext cx="3419855" cy="1609344"/>
          </a:xfrm>
          <a:prstGeom prst="rect">
            <a:avLst/>
          </a:prstGeom>
          <a:noFill/>
        </p:spPr>
        <p:txBody>
          <a:bodyPr wrap="square" lIns="0" rIns="0" tIns="0" bIns="0">
            <a:spAutoFit/>
          </a:bodyPr>
          <a:lstStyle/>
          <a:p>
            <a:pPr algn="l">
              <a:lnSpc>
                <a:spcPct val="98000"/>
              </a:lnSpc>
              <a:spcBef>
                <a:spcPts val="0"/>
              </a:spcBef>
              <a:spcAft>
                <a:spcPts val="400"/>
              </a:spcAft>
            </a:pPr>
            <a:r>
              <a:rPr sz="1050" b="1" i="0">
                <a:solidFill>
                  <a:srgbClr val="143B5C"/>
                </a:solidFill>
                <a:latin typeface="Calibri"/>
              </a:rPr>
              <a:t>Handling ↔ furnace coupling is missing</a:t>
            </a:r>
          </a:p>
          <a:p>
            <a:pPr>
              <a:lnSpc>
                <a:spcPct val="100000"/>
              </a:lnSpc>
            </a:pPr>
            <a:r>
              <a:rPr sz="950" b="0" i="0">
                <a:solidFill>
                  <a:srgbClr val="6B6B6B"/>
                </a:solidFill>
                <a:latin typeface="Calibri"/>
              </a:rPr>
              <a:t>Conveyor/chute DEM is mature; EAF CFD is mature; the interface between them is not yet built.</a:t>
            </a:r>
          </a:p>
        </p:txBody>
      </p:sp>
      <p:sp>
        <p:nvSpPr>
          <p:cNvPr id="13" name="Rounded Rectangle 12"/>
          <p:cNvSpPr/>
          <p:nvPr/>
        </p:nvSpPr>
        <p:spPr>
          <a:xfrm>
            <a:off x="4256531" y="3456432"/>
            <a:ext cx="3675887" cy="1847088"/>
          </a:xfrm>
          <a:prstGeom prst="roundRect">
            <a:avLst>
              <a:gd name="adj" fmla="val 4500"/>
            </a:avLst>
          </a:prstGeom>
          <a:solidFill>
            <a:srgbClr val="F5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4547" y="3584448"/>
            <a:ext cx="3419855" cy="1609344"/>
          </a:xfrm>
          <a:prstGeom prst="rect">
            <a:avLst/>
          </a:prstGeom>
          <a:noFill/>
        </p:spPr>
        <p:txBody>
          <a:bodyPr wrap="square" lIns="0" rIns="0" tIns="0" bIns="0">
            <a:spAutoFit/>
          </a:bodyPr>
          <a:lstStyle/>
          <a:p>
            <a:pPr algn="l">
              <a:lnSpc>
                <a:spcPct val="98000"/>
              </a:lnSpc>
              <a:spcBef>
                <a:spcPts val="0"/>
              </a:spcBef>
              <a:spcAft>
                <a:spcPts val="400"/>
              </a:spcAft>
            </a:pPr>
            <a:r>
              <a:rPr sz="1050" b="1" i="0">
                <a:solidFill>
                  <a:srgbClr val="143B5C"/>
                </a:solidFill>
                <a:latin typeface="Calibri"/>
              </a:rPr>
              <a:t>Industrial validation of charging dynamics is sparse</a:t>
            </a:r>
          </a:p>
          <a:p>
            <a:pPr>
              <a:lnSpc>
                <a:spcPct val="100000"/>
              </a:lnSpc>
            </a:pPr>
            <a:r>
              <a:rPr sz="950" b="0" i="0">
                <a:solidFill>
                  <a:srgbClr val="6B6B6B"/>
                </a:solidFill>
                <a:latin typeface="Calibri"/>
              </a:rPr>
              <a:t>Scrap flow in a running EAF is hard to observe directly; most DEM studies are validated on related lab materials.</a:t>
            </a:r>
          </a:p>
        </p:txBody>
      </p:sp>
      <p:sp>
        <p:nvSpPr>
          <p:cNvPr id="15" name="Rounded Rectangle 14"/>
          <p:cNvSpPr/>
          <p:nvPr/>
        </p:nvSpPr>
        <p:spPr>
          <a:xfrm>
            <a:off x="8101583" y="3456432"/>
            <a:ext cx="3675887" cy="1847088"/>
          </a:xfrm>
          <a:prstGeom prst="roundRect">
            <a:avLst>
              <a:gd name="adj" fmla="val 4500"/>
            </a:avLst>
          </a:prstGeom>
          <a:solidFill>
            <a:srgbClr val="F5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9" y="3584448"/>
            <a:ext cx="3419855" cy="1609344"/>
          </a:xfrm>
          <a:prstGeom prst="rect">
            <a:avLst/>
          </a:prstGeom>
          <a:noFill/>
        </p:spPr>
        <p:txBody>
          <a:bodyPr wrap="square" lIns="0" rIns="0" tIns="0" bIns="0">
            <a:spAutoFit/>
          </a:bodyPr>
          <a:lstStyle/>
          <a:p>
            <a:pPr algn="l">
              <a:lnSpc>
                <a:spcPct val="98000"/>
              </a:lnSpc>
              <a:spcBef>
                <a:spcPts val="0"/>
              </a:spcBef>
              <a:spcAft>
                <a:spcPts val="400"/>
              </a:spcAft>
            </a:pPr>
            <a:r>
              <a:rPr sz="1050" b="1" i="0">
                <a:solidFill>
                  <a:srgbClr val="143B5C"/>
                </a:solidFill>
                <a:latin typeface="Calibri"/>
              </a:rPr>
              <a:t>Multiphysics at the charge surface</a:t>
            </a:r>
          </a:p>
          <a:p>
            <a:pPr>
              <a:lnSpc>
                <a:spcPct val="100000"/>
              </a:lnSpc>
            </a:pPr>
            <a:r>
              <a:rPr sz="950" b="0" i="0">
                <a:solidFill>
                  <a:srgbClr val="6B6B6B"/>
                </a:solidFill>
                <a:latin typeface="Calibri"/>
              </a:rPr>
              <a:t>Infeed scrap moves from mechanical handling to heating, oxidation, re-soldering and collapse — current models treat these separately.</a:t>
            </a:r>
          </a:p>
        </p:txBody>
      </p:sp>
      <p:sp>
        <p:nvSpPr>
          <p:cNvPr id="17" name="Rounded Rectangle 16"/>
          <p:cNvSpPr/>
          <p:nvPr/>
        </p:nvSpPr>
        <p:spPr>
          <a:xfrm>
            <a:off x="411480" y="5532120"/>
            <a:ext cx="11365992" cy="749808"/>
          </a:xfrm>
          <a:prstGeom prst="roundRect">
            <a:avLst>
              <a:gd name="adj" fmla="val 4500"/>
            </a:avLst>
          </a:prstGeom>
          <a:solidFill>
            <a:srgbClr val="143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0000"/>
              </a:lnSpc>
            </a:pPr>
            <a:r>
              <a:rPr sz="1150" b="1" i="0">
                <a:solidFill>
                  <a:srgbClr val="E8A33D"/>
                </a:solidFill>
                <a:latin typeface="Calibri"/>
              </a:rPr>
              <a:t>Bottom line from the literature:  </a:t>
            </a:r>
            <a:r>
              <a:rPr sz="1150" b="0" i="0">
                <a:solidFill>
                  <a:srgbClr val="FFFFFF"/>
                </a:solidFill>
                <a:latin typeface="Calibri"/>
              </a:rPr>
              <a:t>treat scrap infeed as a coupled granular-transport problem — DEM particle mechanics for conveyor / chute / charging, handed off to a furnace model that resolves packing-dependent heat transfer and melting.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11338560" cy="777240"/>
          </a:xfrm>
          <a:prstGeom prst="rect">
            <a:avLst/>
          </a:prstGeom>
          <a:noFill/>
        </p:spPr>
        <p:txBody>
          <a:bodyPr wrap="square" lIns="0" rIns="0" tIns="0" bIns="0">
            <a:spAutoFit/>
          </a:bodyPr>
          <a:lstStyle/>
          <a:p>
            <a:pPr algn="l">
              <a:lnSpc>
                <a:spcPct val="100000"/>
              </a:lnSpc>
              <a:spcBef>
                <a:spcPts val="0"/>
              </a:spcBef>
              <a:spcAft>
                <a:spcPts val="200"/>
              </a:spcAft>
            </a:pPr>
            <a:r>
              <a:rPr sz="1050" b="1" i="0">
                <a:solidFill>
                  <a:srgbClr val="00A4E4"/>
                </a:solidFill>
                <a:latin typeface="Calibri"/>
              </a:rPr>
              <a:t>TOPIC 3 — METHODOLOGY, NOVELTY &amp; ANTICIPATED CHALLENGES</a:t>
            </a:r>
          </a:p>
          <a:p>
            <a:pPr algn="l">
              <a:lnSpc>
                <a:spcPct val="98000"/>
              </a:lnSpc>
              <a:spcBef>
                <a:spcPts val="0"/>
              </a:spcBef>
              <a:spcAft>
                <a:spcPts val="0"/>
              </a:spcAft>
            </a:pPr>
            <a:r>
              <a:rPr sz="2500" b="1" i="0">
                <a:solidFill>
                  <a:srgbClr val="143B5C"/>
                </a:solidFill>
                <a:latin typeface="Calibri"/>
              </a:rPr>
              <a:t>Research Plan: The 4-Year Roadmap</a:t>
            </a:r>
          </a:p>
        </p:txBody>
      </p:sp>
      <p:sp>
        <p:nvSpPr>
          <p:cNvPr id="3" name="Rectangle 2"/>
          <p:cNvSpPr/>
          <p:nvPr/>
        </p:nvSpPr>
        <p:spPr>
          <a:xfrm>
            <a:off x="429768" y="969264"/>
            <a:ext cx="1234440" cy="4114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6510528"/>
            <a:ext cx="1136599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56248"/>
            <a:ext cx="8686800" cy="274320"/>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Particle-Based Modelling of Scrap Handling for Green Steel Production  •  TU Delft × Tata Steel Netherlands</a:t>
            </a:r>
          </a:p>
        </p:txBody>
      </p:sp>
      <p:sp>
        <p:nvSpPr>
          <p:cNvPr id="6" name="TextBox 5"/>
          <p:cNvSpPr txBox="1"/>
          <p:nvPr/>
        </p:nvSpPr>
        <p:spPr>
          <a:xfrm>
            <a:off x="10972800" y="6556248"/>
            <a:ext cx="804672" cy="274320"/>
          </a:xfrm>
          <a:prstGeom prst="rect">
            <a:avLst/>
          </a:prstGeom>
          <a:noFill/>
        </p:spPr>
        <p:txBody>
          <a:bodyPr wrap="square" lIns="0" rIns="0" tIns="0" bIns="0">
            <a:spAutoFit/>
          </a:bodyPr>
          <a:lstStyle/>
          <a:p>
            <a:pPr algn="r">
              <a:lnSpc>
                <a:spcPct val="100000"/>
              </a:lnSpc>
              <a:spcBef>
                <a:spcPts val="0"/>
              </a:spcBef>
              <a:spcAft>
                <a:spcPts val="400"/>
              </a:spcAft>
            </a:pPr>
            <a:r>
              <a:rPr sz="900" b="1" i="0">
                <a:solidFill>
                  <a:srgbClr val="6B6B6B"/>
                </a:solidFill>
                <a:latin typeface="Calibri"/>
              </a:rPr>
              <a:t>7</a:t>
            </a:r>
          </a:p>
        </p:txBody>
      </p:sp>
      <p:sp>
        <p:nvSpPr>
          <p:cNvPr id="7" name="Chevron 6"/>
          <p:cNvSpPr/>
          <p:nvPr/>
        </p:nvSpPr>
        <p:spPr>
          <a:xfrm>
            <a:off x="411480" y="1188720"/>
            <a:ext cx="2944368" cy="777240"/>
          </a:xfrm>
          <a:prstGeom prst="chevron">
            <a:avLst>
              <a:gd name="adj" fmla="val 55000"/>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200" b="1" i="0">
                <a:solidFill>
                  <a:srgbClr val="FFFFFF"/>
                </a:solidFill>
                <a:latin typeface="Calibri"/>
              </a:rPr>
              <a:t>Y1 — Model development</a:t>
            </a:r>
          </a:p>
        </p:txBody>
      </p:sp>
      <p:sp>
        <p:nvSpPr>
          <p:cNvPr id="8" name="Rounded Rectangle 7"/>
          <p:cNvSpPr/>
          <p:nvPr/>
        </p:nvSpPr>
        <p:spPr>
          <a:xfrm>
            <a:off x="411480" y="2148840"/>
            <a:ext cx="2697480" cy="3611880"/>
          </a:xfrm>
          <a:prstGeom prst="roundRect">
            <a:avLst>
              <a:gd name="adj" fmla="val 4500"/>
            </a:avLst>
          </a:prstGeom>
          <a:solidFill>
            <a:srgbClr val="F5F9FC"/>
          </a:solidFill>
          <a:ln w="1270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 y="2304288"/>
            <a:ext cx="2441448" cy="3319272"/>
          </a:xfrm>
          <a:prstGeom prst="rect">
            <a:avLst/>
          </a:prstGeom>
          <a:noFill/>
        </p:spPr>
        <p:txBody>
          <a:bodyPr wrap="square" lIns="0" rIns="0" tIns="0" bIns="0">
            <a:spAutoFit/>
          </a:bodyPr>
          <a:lstStyle/>
          <a:p>
            <a:pPr>
              <a:lnSpc>
                <a:spcPct val="102000"/>
              </a:lnSpc>
              <a:spcAft>
                <a:spcPts val="800"/>
              </a:spcAft>
            </a:pPr>
            <a:r>
              <a:rPr sz="1000" b="1" i="0">
                <a:solidFill>
                  <a:srgbClr val="00A4E4"/>
                </a:solidFill>
                <a:latin typeface="Calibri"/>
              </a:rPr>
              <a:t>•  </a:t>
            </a:r>
            <a:r>
              <a:rPr sz="1000" b="0" i="0">
                <a:solidFill>
                  <a:srgbClr val="2B2B2B"/>
                </a:solidFill>
                <a:latin typeface="Calibri"/>
              </a:rPr>
              <a:t>Non-spherical DEM of scrap: multi-sphere &amp; super-quadric proxies from 3D scans</a:t>
            </a:r>
          </a:p>
          <a:p>
            <a:pPr>
              <a:lnSpc>
                <a:spcPct val="102000"/>
              </a:lnSpc>
              <a:spcAft>
                <a:spcPts val="800"/>
              </a:spcAft>
            </a:pPr>
            <a:r>
              <a:rPr sz="1000" b="1" i="0">
                <a:solidFill>
                  <a:srgbClr val="00A4E4"/>
                </a:solidFill>
                <a:latin typeface="Calibri"/>
              </a:rPr>
              <a:t>•  </a:t>
            </a:r>
            <a:r>
              <a:rPr sz="1000" b="0" i="0">
                <a:solidFill>
                  <a:srgbClr val="2B2B2B"/>
                </a:solidFill>
                <a:latin typeface="Calibri"/>
              </a:rPr>
              <a:t>Baseline shape characterisation: size, shape, bulk density, porosity</a:t>
            </a:r>
          </a:p>
          <a:p>
            <a:pPr>
              <a:lnSpc>
                <a:spcPct val="102000"/>
              </a:lnSpc>
              <a:spcAft>
                <a:spcPts val="800"/>
              </a:spcAft>
            </a:pPr>
            <a:r>
              <a:rPr sz="1000" b="1" i="0">
                <a:solidFill>
                  <a:srgbClr val="00A4E4"/>
                </a:solidFill>
                <a:latin typeface="Calibri"/>
              </a:rPr>
              <a:t>•  </a:t>
            </a:r>
            <a:r>
              <a:rPr sz="1000" b="0" i="0">
                <a:solidFill>
                  <a:srgbClr val="2B2B2B"/>
                </a:solidFill>
                <a:latin typeface="Calibri"/>
              </a:rPr>
              <a:t>Lab calibration: angle of repose, drop &amp; draw-down tests</a:t>
            </a:r>
          </a:p>
        </p:txBody>
      </p:sp>
      <p:sp>
        <p:nvSpPr>
          <p:cNvPr id="10" name="Chevron 9"/>
          <p:cNvSpPr/>
          <p:nvPr/>
        </p:nvSpPr>
        <p:spPr>
          <a:xfrm>
            <a:off x="3218688" y="1188720"/>
            <a:ext cx="2944368" cy="777240"/>
          </a:xfrm>
          <a:prstGeom prst="chevron">
            <a:avLst>
              <a:gd name="adj" fmla="val 55000"/>
            </a:avLst>
          </a:prstGeom>
          <a:solidFill>
            <a:srgbClr val="143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200" b="1" i="0">
                <a:solidFill>
                  <a:srgbClr val="FFFFFF"/>
                </a:solidFill>
                <a:latin typeface="Calibri"/>
              </a:rPr>
              <a:t>Y2 — Industrial calibration</a:t>
            </a:r>
          </a:p>
        </p:txBody>
      </p:sp>
      <p:sp>
        <p:nvSpPr>
          <p:cNvPr id="11" name="Rounded Rectangle 10"/>
          <p:cNvSpPr/>
          <p:nvPr/>
        </p:nvSpPr>
        <p:spPr>
          <a:xfrm>
            <a:off x="3218688" y="2148840"/>
            <a:ext cx="2697480" cy="3611880"/>
          </a:xfrm>
          <a:prstGeom prst="roundRect">
            <a:avLst>
              <a:gd name="adj" fmla="val 4500"/>
            </a:avLst>
          </a:prstGeom>
          <a:solidFill>
            <a:srgbClr val="F5F9FC"/>
          </a:solidFill>
          <a:ln w="1270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46704" y="2304288"/>
            <a:ext cx="2441448" cy="3319272"/>
          </a:xfrm>
          <a:prstGeom prst="rect">
            <a:avLst/>
          </a:prstGeom>
          <a:noFill/>
        </p:spPr>
        <p:txBody>
          <a:bodyPr wrap="square" lIns="0" rIns="0" tIns="0" bIns="0">
            <a:spAutoFit/>
          </a:bodyPr>
          <a:lstStyle/>
          <a:p>
            <a:pPr>
              <a:lnSpc>
                <a:spcPct val="102000"/>
              </a:lnSpc>
              <a:spcAft>
                <a:spcPts val="800"/>
              </a:spcAft>
            </a:pPr>
            <a:r>
              <a:rPr sz="1000" b="1" i="0">
                <a:solidFill>
                  <a:srgbClr val="00A4E4"/>
                </a:solidFill>
                <a:latin typeface="Calibri"/>
              </a:rPr>
              <a:t>•  </a:t>
            </a:r>
            <a:r>
              <a:rPr sz="1000" b="0" i="0">
                <a:solidFill>
                  <a:srgbClr val="2B2B2B"/>
                </a:solidFill>
                <a:latin typeface="Calibri"/>
              </a:rPr>
              <a:t>Tata Steel NL plant data: feeders, chutes, recipes</a:t>
            </a:r>
          </a:p>
          <a:p>
            <a:pPr>
              <a:lnSpc>
                <a:spcPct val="102000"/>
              </a:lnSpc>
              <a:spcAft>
                <a:spcPts val="800"/>
              </a:spcAft>
            </a:pPr>
            <a:r>
              <a:rPr sz="1000" b="1" i="0">
                <a:solidFill>
                  <a:srgbClr val="00A4E4"/>
                </a:solidFill>
                <a:latin typeface="Calibri"/>
              </a:rPr>
              <a:t>•  </a:t>
            </a:r>
            <a:r>
              <a:rPr sz="1000" b="0" i="0">
                <a:solidFill>
                  <a:srgbClr val="2B2B2B"/>
                </a:solidFill>
                <a:latin typeface="Calibri"/>
              </a:rPr>
              <a:t>Build the virtual material library (bale / shredded / HMS)</a:t>
            </a:r>
          </a:p>
          <a:p>
            <a:pPr>
              <a:lnSpc>
                <a:spcPct val="102000"/>
              </a:lnSpc>
              <a:spcAft>
                <a:spcPts val="800"/>
              </a:spcAft>
            </a:pPr>
            <a:r>
              <a:rPr sz="1000" b="1" i="0">
                <a:solidFill>
                  <a:srgbClr val="00A4E4"/>
                </a:solidFill>
                <a:latin typeface="Calibri"/>
              </a:rPr>
              <a:t>•  </a:t>
            </a:r>
            <a:r>
              <a:rPr sz="1000" b="0" i="0">
                <a:solidFill>
                  <a:srgbClr val="2B2B2B"/>
                </a:solidFill>
                <a:latin typeface="Calibri"/>
              </a:rPr>
              <a:t>High-speed video &amp; load-cell validation; upscaling limits at industrial scale</a:t>
            </a:r>
          </a:p>
        </p:txBody>
      </p:sp>
      <p:sp>
        <p:nvSpPr>
          <p:cNvPr id="13" name="Chevron 12"/>
          <p:cNvSpPr/>
          <p:nvPr/>
        </p:nvSpPr>
        <p:spPr>
          <a:xfrm>
            <a:off x="6025896" y="1188720"/>
            <a:ext cx="2944368" cy="777240"/>
          </a:xfrm>
          <a:prstGeom prst="chevron">
            <a:avLst>
              <a:gd name="adj" fmla="val 55000"/>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200" b="1" i="0">
                <a:solidFill>
                  <a:srgbClr val="FFFFFF"/>
                </a:solidFill>
                <a:latin typeface="Calibri"/>
              </a:rPr>
              <a:t>Y3 — Optimisation scenarios</a:t>
            </a:r>
          </a:p>
        </p:txBody>
      </p:sp>
      <p:sp>
        <p:nvSpPr>
          <p:cNvPr id="14" name="Rounded Rectangle 13"/>
          <p:cNvSpPr/>
          <p:nvPr/>
        </p:nvSpPr>
        <p:spPr>
          <a:xfrm>
            <a:off x="6025896" y="2148840"/>
            <a:ext cx="2697480" cy="3611880"/>
          </a:xfrm>
          <a:prstGeom prst="roundRect">
            <a:avLst>
              <a:gd name="adj" fmla="val 4500"/>
            </a:avLst>
          </a:prstGeom>
          <a:solidFill>
            <a:srgbClr val="F5F9FC"/>
          </a:solidFill>
          <a:ln w="1270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53912" y="2304288"/>
            <a:ext cx="2441448" cy="3319272"/>
          </a:xfrm>
          <a:prstGeom prst="rect">
            <a:avLst/>
          </a:prstGeom>
          <a:noFill/>
        </p:spPr>
        <p:txBody>
          <a:bodyPr wrap="square" lIns="0" rIns="0" tIns="0" bIns="0">
            <a:spAutoFit/>
          </a:bodyPr>
          <a:lstStyle/>
          <a:p>
            <a:pPr>
              <a:lnSpc>
                <a:spcPct val="102000"/>
              </a:lnSpc>
              <a:spcAft>
                <a:spcPts val="800"/>
              </a:spcAft>
            </a:pPr>
            <a:r>
              <a:rPr sz="1000" b="1" i="0">
                <a:solidFill>
                  <a:srgbClr val="00A4E4"/>
                </a:solidFill>
                <a:latin typeface="Calibri"/>
              </a:rPr>
              <a:t>•  </a:t>
            </a:r>
            <a:r>
              <a:rPr sz="1000" b="0" i="0">
                <a:solidFill>
                  <a:srgbClr val="2B2B2B"/>
                </a:solidFill>
                <a:latin typeface="Calibri"/>
              </a:rPr>
              <a:t>Multi-material recipe simulations in real plant geometry</a:t>
            </a:r>
          </a:p>
          <a:p>
            <a:pPr>
              <a:lnSpc>
                <a:spcPct val="102000"/>
              </a:lnSpc>
              <a:spcAft>
                <a:spcPts val="800"/>
              </a:spcAft>
            </a:pPr>
            <a:r>
              <a:rPr sz="1000" b="1" i="0">
                <a:solidFill>
                  <a:srgbClr val="00A4E4"/>
                </a:solidFill>
                <a:latin typeface="Calibri"/>
              </a:rPr>
              <a:t>•  </a:t>
            </a:r>
            <a:r>
              <a:rPr sz="1000" b="0" i="0">
                <a:solidFill>
                  <a:srgbClr val="2B2B2B"/>
                </a:solidFill>
                <a:latin typeface="Calibri"/>
              </a:rPr>
              <a:t>Segregation &amp; discharge-sequence optimisation (which scrap goes first)</a:t>
            </a:r>
          </a:p>
          <a:p>
            <a:pPr>
              <a:lnSpc>
                <a:spcPct val="102000"/>
              </a:lnSpc>
              <a:spcAft>
                <a:spcPts val="800"/>
              </a:spcAft>
            </a:pPr>
            <a:r>
              <a:rPr sz="1000" b="1" i="0">
                <a:solidFill>
                  <a:srgbClr val="00A4E4"/>
                </a:solidFill>
                <a:latin typeface="Calibri"/>
              </a:rPr>
              <a:t>•  </a:t>
            </a:r>
            <a:r>
              <a:rPr sz="1000" b="0" i="0">
                <a:solidFill>
                  <a:srgbClr val="2B2B2B"/>
                </a:solidFill>
                <a:latin typeface="Calibri"/>
              </a:rPr>
              <a:t>Coupling with melting model: charge layering, HBI + scrap interaction</a:t>
            </a:r>
          </a:p>
        </p:txBody>
      </p:sp>
      <p:sp>
        <p:nvSpPr>
          <p:cNvPr id="16" name="Chevron 15"/>
          <p:cNvSpPr/>
          <p:nvPr/>
        </p:nvSpPr>
        <p:spPr>
          <a:xfrm>
            <a:off x="8833104" y="1188720"/>
            <a:ext cx="2944368" cy="777240"/>
          </a:xfrm>
          <a:prstGeom prst="chevron">
            <a:avLst>
              <a:gd name="adj" fmla="val 55000"/>
            </a:avLst>
          </a:prstGeom>
          <a:solidFill>
            <a:srgbClr val="143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200" b="1" i="0">
                <a:solidFill>
                  <a:srgbClr val="FFFFFF"/>
                </a:solidFill>
                <a:latin typeface="Calibri"/>
              </a:rPr>
              <a:t>Y4 — Plant implementation</a:t>
            </a:r>
          </a:p>
        </p:txBody>
      </p:sp>
      <p:sp>
        <p:nvSpPr>
          <p:cNvPr id="17" name="Rounded Rectangle 16"/>
          <p:cNvSpPr/>
          <p:nvPr/>
        </p:nvSpPr>
        <p:spPr>
          <a:xfrm>
            <a:off x="8833104" y="2148840"/>
            <a:ext cx="2697480" cy="3611880"/>
          </a:xfrm>
          <a:prstGeom prst="roundRect">
            <a:avLst>
              <a:gd name="adj" fmla="val 4500"/>
            </a:avLst>
          </a:prstGeom>
          <a:solidFill>
            <a:srgbClr val="F5F9FC"/>
          </a:solidFill>
          <a:ln w="1270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0" y="2304288"/>
            <a:ext cx="2441448" cy="3319272"/>
          </a:xfrm>
          <a:prstGeom prst="rect">
            <a:avLst/>
          </a:prstGeom>
          <a:noFill/>
        </p:spPr>
        <p:txBody>
          <a:bodyPr wrap="square" lIns="0" rIns="0" tIns="0" bIns="0">
            <a:spAutoFit/>
          </a:bodyPr>
          <a:lstStyle/>
          <a:p>
            <a:pPr>
              <a:lnSpc>
                <a:spcPct val="102000"/>
              </a:lnSpc>
              <a:spcAft>
                <a:spcPts val="800"/>
              </a:spcAft>
            </a:pPr>
            <a:r>
              <a:rPr sz="1000" b="1" i="0">
                <a:solidFill>
                  <a:srgbClr val="00A4E4"/>
                </a:solidFill>
                <a:latin typeface="Calibri"/>
              </a:rPr>
              <a:t>•  </a:t>
            </a:r>
            <a:r>
              <a:rPr sz="1000" b="0" i="0">
                <a:solidFill>
                  <a:srgbClr val="2B2B2B"/>
                </a:solidFill>
                <a:latin typeface="Calibri"/>
              </a:rPr>
              <a:t>Digital twin of the EAF infeed chain</a:t>
            </a:r>
          </a:p>
          <a:p>
            <a:pPr>
              <a:lnSpc>
                <a:spcPct val="102000"/>
              </a:lnSpc>
              <a:spcAft>
                <a:spcPts val="800"/>
              </a:spcAft>
            </a:pPr>
            <a:r>
              <a:rPr sz="1000" b="1" i="0">
                <a:solidFill>
                  <a:srgbClr val="00A4E4"/>
                </a:solidFill>
                <a:latin typeface="Calibri"/>
              </a:rPr>
              <a:t>•  </a:t>
            </a:r>
            <a:r>
              <a:rPr sz="1000" b="0" i="0">
                <a:solidFill>
                  <a:srgbClr val="2B2B2B"/>
                </a:solidFill>
                <a:latin typeface="Calibri"/>
              </a:rPr>
              <a:t>Actionable operating rules for plant engineers</a:t>
            </a:r>
          </a:p>
          <a:p>
            <a:pPr>
              <a:lnSpc>
                <a:spcPct val="102000"/>
              </a:lnSpc>
              <a:spcAft>
                <a:spcPts val="800"/>
              </a:spcAft>
            </a:pPr>
            <a:r>
              <a:rPr sz="1000" b="1" i="0">
                <a:solidFill>
                  <a:srgbClr val="00A4E4"/>
                </a:solidFill>
                <a:latin typeface="Calibri"/>
              </a:rPr>
              <a:t>•  </a:t>
            </a:r>
            <a:r>
              <a:rPr sz="1000" b="0" i="0">
                <a:solidFill>
                  <a:srgbClr val="2B2B2B"/>
                </a:solidFill>
                <a:latin typeface="Calibri"/>
              </a:rPr>
              <a:t>Wear &amp; energy-reduction recommendations; dissemination &amp; PhD defence</a:t>
            </a:r>
          </a:p>
        </p:txBody>
      </p:sp>
      <p:sp>
        <p:nvSpPr>
          <p:cNvPr id="19" name="Rounded Rectangle 18"/>
          <p:cNvSpPr/>
          <p:nvPr/>
        </p:nvSpPr>
        <p:spPr>
          <a:xfrm>
            <a:off x="411480" y="5989320"/>
            <a:ext cx="11365992" cy="438912"/>
          </a:xfrm>
          <a:prstGeom prst="roundRect">
            <a:avLst>
              <a:gd name="adj" fmla="val 45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100" b="1" i="0">
                <a:solidFill>
                  <a:srgbClr val="143B5C"/>
                </a:solidFill>
                <a:latin typeface="Calibri"/>
              </a:rPr>
              <a:t>Guiding principle:  </a:t>
            </a:r>
            <a:r>
              <a:rPr sz="1100" b="0" i="0">
                <a:solidFill>
                  <a:srgbClr val="2B2B2B"/>
                </a:solidFill>
                <a:latin typeface="Calibri"/>
              </a:rPr>
              <a:t>every year ends in a validated artefact the plant can use — not just a simulation.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11338560" cy="777240"/>
          </a:xfrm>
          <a:prstGeom prst="rect">
            <a:avLst/>
          </a:prstGeom>
          <a:noFill/>
        </p:spPr>
        <p:txBody>
          <a:bodyPr wrap="square" lIns="0" rIns="0" tIns="0" bIns="0">
            <a:spAutoFit/>
          </a:bodyPr>
          <a:lstStyle/>
          <a:p>
            <a:pPr algn="l">
              <a:lnSpc>
                <a:spcPct val="100000"/>
              </a:lnSpc>
              <a:spcBef>
                <a:spcPts val="0"/>
              </a:spcBef>
              <a:spcAft>
                <a:spcPts val="200"/>
              </a:spcAft>
            </a:pPr>
            <a:r>
              <a:rPr sz="1050" b="1" i="0">
                <a:solidFill>
                  <a:srgbClr val="00A4E4"/>
                </a:solidFill>
                <a:latin typeface="Calibri"/>
              </a:rPr>
              <a:t>TOPIC 3 — METHODOLOGY, NOVELTY &amp; ANTICIPATED CHALLENGES</a:t>
            </a:r>
          </a:p>
          <a:p>
            <a:pPr algn="l">
              <a:lnSpc>
                <a:spcPct val="98000"/>
              </a:lnSpc>
              <a:spcBef>
                <a:spcPts val="0"/>
              </a:spcBef>
              <a:spcAft>
                <a:spcPts val="0"/>
              </a:spcAft>
            </a:pPr>
            <a:r>
              <a:rPr sz="2500" b="1" i="0">
                <a:solidFill>
                  <a:srgbClr val="143B5C"/>
                </a:solidFill>
                <a:latin typeface="Calibri"/>
              </a:rPr>
              <a:t>Calibration Strategy &amp; the Coarse-Graining Dilemma</a:t>
            </a:r>
          </a:p>
        </p:txBody>
      </p:sp>
      <p:sp>
        <p:nvSpPr>
          <p:cNvPr id="3" name="Rectangle 2"/>
          <p:cNvSpPr/>
          <p:nvPr/>
        </p:nvSpPr>
        <p:spPr>
          <a:xfrm>
            <a:off x="429768" y="969264"/>
            <a:ext cx="1234440" cy="4114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6510528"/>
            <a:ext cx="1136599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56248"/>
            <a:ext cx="8686800" cy="274320"/>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Particle-Based Modelling of Scrap Handling for Green Steel Production  •  TU Delft × Tata Steel Netherlands</a:t>
            </a:r>
          </a:p>
        </p:txBody>
      </p:sp>
      <p:sp>
        <p:nvSpPr>
          <p:cNvPr id="6" name="TextBox 5"/>
          <p:cNvSpPr txBox="1"/>
          <p:nvPr/>
        </p:nvSpPr>
        <p:spPr>
          <a:xfrm>
            <a:off x="10972800" y="6556248"/>
            <a:ext cx="804672" cy="274320"/>
          </a:xfrm>
          <a:prstGeom prst="rect">
            <a:avLst/>
          </a:prstGeom>
          <a:noFill/>
        </p:spPr>
        <p:txBody>
          <a:bodyPr wrap="square" lIns="0" rIns="0" tIns="0" bIns="0">
            <a:spAutoFit/>
          </a:bodyPr>
          <a:lstStyle/>
          <a:p>
            <a:pPr algn="r">
              <a:lnSpc>
                <a:spcPct val="100000"/>
              </a:lnSpc>
              <a:spcBef>
                <a:spcPts val="0"/>
              </a:spcBef>
              <a:spcAft>
                <a:spcPts val="400"/>
              </a:spcAft>
            </a:pPr>
            <a:r>
              <a:rPr sz="900" b="1" i="0">
                <a:solidFill>
                  <a:srgbClr val="6B6B6B"/>
                </a:solidFill>
                <a:latin typeface="Calibri"/>
              </a:rPr>
              <a:t>8</a:t>
            </a:r>
          </a:p>
        </p:txBody>
      </p:sp>
      <p:sp>
        <p:nvSpPr>
          <p:cNvPr id="7" name="Rounded Rectangle 6"/>
          <p:cNvSpPr/>
          <p:nvPr/>
        </p:nvSpPr>
        <p:spPr>
          <a:xfrm>
            <a:off x="411480" y="1170432"/>
            <a:ext cx="2615184" cy="1481328"/>
          </a:xfrm>
          <a:prstGeom prst="roundRect">
            <a:avLst>
              <a:gd name="adj" fmla="val 4500"/>
            </a:avLst>
          </a:prstGeom>
          <a:solidFill>
            <a:srgbClr val="EAF4FB"/>
          </a:solidFill>
          <a:ln w="1524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80160"/>
            <a:ext cx="2377439" cy="1261872"/>
          </a:xfrm>
          <a:prstGeom prst="rect">
            <a:avLst/>
          </a:prstGeom>
          <a:noFill/>
        </p:spPr>
        <p:txBody>
          <a:bodyPr wrap="square" lIns="0" rIns="0" tIns="0" bIns="0">
            <a:spAutoFit/>
          </a:bodyPr>
          <a:lstStyle/>
          <a:p>
            <a:pPr>
              <a:spcAft>
                <a:spcPts val="400"/>
              </a:spcAft>
            </a:pPr>
            <a:r>
              <a:rPr sz="900" b="1" i="0">
                <a:solidFill>
                  <a:srgbClr val="E8A33D"/>
                </a:solidFill>
                <a:latin typeface="Calibri"/>
              </a:rPr>
              <a:t>STEP 1   </a:t>
            </a:r>
            <a:r>
              <a:rPr sz="1150" b="1" i="0">
                <a:solidFill>
                  <a:srgbClr val="143B5C"/>
                </a:solidFill>
                <a:latin typeface="Calibri"/>
              </a:rPr>
              <a:t>Physical experiments</a:t>
            </a:r>
          </a:p>
          <a:p>
            <a:pPr>
              <a:lnSpc>
                <a:spcPct val="98000"/>
              </a:lnSpc>
            </a:pPr>
            <a:r>
              <a:rPr sz="900" b="0" i="0">
                <a:solidFill>
                  <a:srgbClr val="2B2B2B"/>
                </a:solidFill>
                <a:latin typeface="Calibri"/>
              </a:rPr>
              <a:t>Angle of repose • drop / bounce (COR) • draw-down • feeder mass flow • high-speed video</a:t>
            </a:r>
          </a:p>
        </p:txBody>
      </p:sp>
      <p:sp>
        <p:nvSpPr>
          <p:cNvPr id="9" name="Right Arrow 8"/>
          <p:cNvSpPr/>
          <p:nvPr/>
        </p:nvSpPr>
        <p:spPr>
          <a:xfrm>
            <a:off x="3090672" y="1810511"/>
            <a:ext cx="310896" cy="201168"/>
          </a:xfrm>
          <a:prstGeom prst="rightArrow">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65576" y="1170432"/>
            <a:ext cx="2615184" cy="1481328"/>
          </a:xfrm>
          <a:prstGeom prst="roundRect">
            <a:avLst>
              <a:gd name="adj" fmla="val 4500"/>
            </a:avLst>
          </a:prstGeom>
          <a:solidFill>
            <a:srgbClr val="EAF4FB"/>
          </a:solidFill>
          <a:ln w="1524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4448" y="1280160"/>
            <a:ext cx="2377439" cy="1261872"/>
          </a:xfrm>
          <a:prstGeom prst="rect">
            <a:avLst/>
          </a:prstGeom>
          <a:noFill/>
        </p:spPr>
        <p:txBody>
          <a:bodyPr wrap="square" lIns="0" rIns="0" tIns="0" bIns="0">
            <a:spAutoFit/>
          </a:bodyPr>
          <a:lstStyle/>
          <a:p>
            <a:pPr>
              <a:spcAft>
                <a:spcPts val="400"/>
              </a:spcAft>
            </a:pPr>
            <a:r>
              <a:rPr sz="900" b="1" i="0">
                <a:solidFill>
                  <a:srgbClr val="E8A33D"/>
                </a:solidFill>
                <a:latin typeface="Calibri"/>
              </a:rPr>
              <a:t>STEP 2   </a:t>
            </a:r>
            <a:r>
              <a:rPr sz="1150" b="1" i="0">
                <a:solidFill>
                  <a:srgbClr val="143B5C"/>
                </a:solidFill>
                <a:latin typeface="Calibri"/>
              </a:rPr>
              <a:t>Parameter optimisation loop</a:t>
            </a:r>
          </a:p>
          <a:p>
            <a:pPr>
              <a:lnSpc>
                <a:spcPct val="98000"/>
              </a:lnSpc>
            </a:pPr>
            <a:r>
              <a:rPr sz="900" b="0" i="0">
                <a:solidFill>
                  <a:srgbClr val="2B2B2B"/>
                </a:solidFill>
                <a:latin typeface="Calibri"/>
              </a:rPr>
              <a:t>Friction, rolling resistance, restitution, cohesion; PSD &amp; multi-sphere fitting against bulk response</a:t>
            </a:r>
          </a:p>
        </p:txBody>
      </p:sp>
      <p:sp>
        <p:nvSpPr>
          <p:cNvPr id="12" name="Right Arrow 11"/>
          <p:cNvSpPr/>
          <p:nvPr/>
        </p:nvSpPr>
        <p:spPr>
          <a:xfrm>
            <a:off x="6144768" y="1810511"/>
            <a:ext cx="310896" cy="201168"/>
          </a:xfrm>
          <a:prstGeom prst="rightArrow">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19672" y="1170432"/>
            <a:ext cx="2615184" cy="1481328"/>
          </a:xfrm>
          <a:prstGeom prst="roundRect">
            <a:avLst>
              <a:gd name="adj" fmla="val 4500"/>
            </a:avLst>
          </a:prstGeom>
          <a:solidFill>
            <a:srgbClr val="EAF4FB"/>
          </a:solidFill>
          <a:ln w="1524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38544" y="1280160"/>
            <a:ext cx="2377439" cy="1261872"/>
          </a:xfrm>
          <a:prstGeom prst="rect">
            <a:avLst/>
          </a:prstGeom>
          <a:noFill/>
        </p:spPr>
        <p:txBody>
          <a:bodyPr wrap="square" lIns="0" rIns="0" tIns="0" bIns="0">
            <a:spAutoFit/>
          </a:bodyPr>
          <a:lstStyle/>
          <a:p>
            <a:pPr>
              <a:spcAft>
                <a:spcPts val="400"/>
              </a:spcAft>
            </a:pPr>
            <a:r>
              <a:rPr sz="900" b="1" i="0">
                <a:solidFill>
                  <a:srgbClr val="E8A33D"/>
                </a:solidFill>
                <a:latin typeface="Calibri"/>
              </a:rPr>
              <a:t>STEP 3   </a:t>
            </a:r>
            <a:r>
              <a:rPr sz="1150" b="1" i="0">
                <a:solidFill>
                  <a:srgbClr val="143B5C"/>
                </a:solidFill>
                <a:latin typeface="Calibri"/>
              </a:rPr>
              <a:t>Calibrated DEM engine</a:t>
            </a:r>
          </a:p>
          <a:p>
            <a:pPr>
              <a:lnSpc>
                <a:spcPct val="98000"/>
              </a:lnSpc>
            </a:pPr>
            <a:r>
              <a:rPr sz="900" b="0" i="0">
                <a:solidFill>
                  <a:srgbClr val="2B2B2B"/>
                </a:solidFill>
                <a:latin typeface="Calibri"/>
              </a:rPr>
              <a:t>Altair EDEM / Ansys Rocky (commercial) • LIGGGHTS / MFIX-DEM (open source)</a:t>
            </a:r>
          </a:p>
        </p:txBody>
      </p:sp>
      <p:sp>
        <p:nvSpPr>
          <p:cNvPr id="15" name="Right Arrow 14"/>
          <p:cNvSpPr/>
          <p:nvPr/>
        </p:nvSpPr>
        <p:spPr>
          <a:xfrm>
            <a:off x="9198864" y="1810511"/>
            <a:ext cx="310896" cy="201168"/>
          </a:xfrm>
          <a:prstGeom prst="rightArrow">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573767" y="1170432"/>
            <a:ext cx="2615184" cy="1481328"/>
          </a:xfrm>
          <a:prstGeom prst="roundRect">
            <a:avLst>
              <a:gd name="adj" fmla="val 4500"/>
            </a:avLst>
          </a:prstGeom>
          <a:solidFill>
            <a:srgbClr val="D9EEFB"/>
          </a:solidFill>
          <a:ln w="1524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0" y="1280160"/>
            <a:ext cx="2377439" cy="1261872"/>
          </a:xfrm>
          <a:prstGeom prst="rect">
            <a:avLst/>
          </a:prstGeom>
          <a:noFill/>
        </p:spPr>
        <p:txBody>
          <a:bodyPr wrap="square" lIns="0" rIns="0" tIns="0" bIns="0">
            <a:spAutoFit/>
          </a:bodyPr>
          <a:lstStyle/>
          <a:p>
            <a:pPr>
              <a:spcAft>
                <a:spcPts val="400"/>
              </a:spcAft>
            </a:pPr>
            <a:r>
              <a:rPr sz="900" b="1" i="0">
                <a:solidFill>
                  <a:srgbClr val="E8A33D"/>
                </a:solidFill>
                <a:latin typeface="Calibri"/>
              </a:rPr>
              <a:t>STEP 4   </a:t>
            </a:r>
            <a:r>
              <a:rPr sz="1150" b="1" i="0">
                <a:solidFill>
                  <a:srgbClr val="143B5C"/>
                </a:solidFill>
                <a:latin typeface="Calibri"/>
              </a:rPr>
              <a:t>Industrial validation</a:t>
            </a:r>
          </a:p>
          <a:p>
            <a:pPr>
              <a:lnSpc>
                <a:spcPct val="98000"/>
              </a:lnSpc>
            </a:pPr>
            <a:r>
              <a:rPr sz="900" b="0" i="0">
                <a:solidFill>
                  <a:srgbClr val="2B2B2B"/>
                </a:solidFill>
                <a:latin typeface="Calibri"/>
              </a:rPr>
              <a:t>Chute flow, build-up, impact force &amp; mass balance vs. plant data (Tata Steel NL)</a:t>
            </a:r>
          </a:p>
        </p:txBody>
      </p:sp>
      <p:sp>
        <p:nvSpPr>
          <p:cNvPr id="18" name="Rounded Rectangle 17"/>
          <p:cNvSpPr/>
          <p:nvPr/>
        </p:nvSpPr>
        <p:spPr>
          <a:xfrm>
            <a:off x="411480" y="2944368"/>
            <a:ext cx="5596128" cy="3246120"/>
          </a:xfrm>
          <a:prstGeom prst="roundRect">
            <a:avLst>
              <a:gd name="adj" fmla="val 4500"/>
            </a:avLst>
          </a:prstGeom>
          <a:solidFill>
            <a:srgbClr val="F5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 y="3090672"/>
            <a:ext cx="5285232" cy="2971800"/>
          </a:xfrm>
          <a:prstGeom prst="rect">
            <a:avLst/>
          </a:prstGeom>
          <a:noFill/>
        </p:spPr>
        <p:txBody>
          <a:bodyPr wrap="square" lIns="0" rIns="0" tIns="0" bIns="0">
            <a:spAutoFit/>
          </a:bodyPr>
          <a:lstStyle/>
          <a:p>
            <a:pPr algn="l">
              <a:lnSpc>
                <a:spcPct val="100000"/>
              </a:lnSpc>
              <a:spcBef>
                <a:spcPts val="0"/>
              </a:spcBef>
              <a:spcAft>
                <a:spcPts val="600"/>
              </a:spcAft>
            </a:pPr>
            <a:r>
              <a:rPr sz="1300" b="1" i="0">
                <a:solidFill>
                  <a:srgbClr val="143B5C"/>
                </a:solidFill>
                <a:latin typeface="Calibri"/>
              </a:rPr>
              <a:t>The coarse-graining dilemma</a:t>
            </a:r>
          </a:p>
          <a:p>
            <a:pPr marL="0">
              <a:lnSpc>
                <a:spcPct val="106000"/>
              </a:lnSpc>
              <a:spcAft>
                <a:spcPts val="800"/>
              </a:spcAft>
            </a:pPr>
            <a:r>
              <a:rPr sz="1000" b="1" i="0">
                <a:solidFill>
                  <a:srgbClr val="00A4E4"/>
                </a:solidFill>
                <a:latin typeface="Calibri"/>
              </a:rPr>
              <a:t>•  </a:t>
            </a:r>
            <a:r>
              <a:rPr sz="1000" b="0" i="0">
                <a:solidFill>
                  <a:srgbClr val="2B2B2B"/>
                </a:solidFill>
                <a:latin typeface="Calibri"/>
              </a:rPr>
              <a:t>Steel scrap piles span millimetres (shreds) to metres (HMS bundles) — simulating every fragment is computationally impossible</a:t>
            </a:r>
          </a:p>
          <a:p>
            <a:pPr marL="0">
              <a:lnSpc>
                <a:spcPct val="106000"/>
              </a:lnSpc>
              <a:spcAft>
                <a:spcPts val="800"/>
              </a:spcAft>
            </a:pPr>
            <a:r>
              <a:rPr sz="1000" b="1" i="0">
                <a:solidFill>
                  <a:srgbClr val="00A4E4"/>
                </a:solidFill>
                <a:latin typeface="Calibri"/>
              </a:rPr>
              <a:t>•  </a:t>
            </a:r>
            <a:r>
              <a:rPr sz="1000" b="0" i="0">
                <a:solidFill>
                  <a:srgbClr val="2B2B2B"/>
                </a:solidFill>
                <a:latin typeface="Calibri"/>
              </a:rPr>
              <a:t>Strategy: cluster small particles into representative numerical equivalents — volume-equivalent diameter, mass-matched multi-sphere clusters</a:t>
            </a:r>
          </a:p>
          <a:p>
            <a:pPr marL="0">
              <a:lnSpc>
                <a:spcPct val="106000"/>
              </a:lnSpc>
              <a:spcAft>
                <a:spcPts val="800"/>
              </a:spcAft>
            </a:pPr>
            <a:r>
              <a:rPr sz="1000" b="1" i="0">
                <a:solidFill>
                  <a:srgbClr val="00A4E4"/>
                </a:solidFill>
                <a:latin typeface="Calibri"/>
              </a:rPr>
              <a:t>•  </a:t>
            </a:r>
            <a:r>
              <a:rPr sz="1000" b="0" i="0">
                <a:solidFill>
                  <a:srgbClr val="2B2B2B"/>
                </a:solidFill>
                <a:latin typeface="Calibri"/>
              </a:rPr>
              <a:t>The virtual pile must match the real pile: angle of repose, stream thickness, build-up profile, discharge rate</a:t>
            </a:r>
          </a:p>
          <a:p>
            <a:pPr marL="0">
              <a:lnSpc>
                <a:spcPct val="106000"/>
              </a:lnSpc>
              <a:spcAft>
                <a:spcPts val="800"/>
              </a:spcAft>
            </a:pPr>
            <a:r>
              <a:rPr sz="1000" b="1" i="0">
                <a:solidFill>
                  <a:srgbClr val="00A4E4"/>
                </a:solidFill>
                <a:latin typeface="Calibri"/>
              </a:rPr>
              <a:t>•  </a:t>
            </a:r>
            <a:r>
              <a:rPr sz="1000" b="0" i="0">
                <a:solidFill>
                  <a:srgbClr val="2B2B2B"/>
                </a:solidFill>
                <a:latin typeface="Calibri"/>
              </a:rPr>
              <a:t>Calibrate rolling friction &amp; shape until the virtual scrap behaves like the physical material at every scale</a:t>
            </a:r>
          </a:p>
        </p:txBody>
      </p:sp>
      <p:sp>
        <p:nvSpPr>
          <p:cNvPr id="20" name="Rounded Rectangle 19"/>
          <p:cNvSpPr/>
          <p:nvPr/>
        </p:nvSpPr>
        <p:spPr>
          <a:xfrm>
            <a:off x="6172200" y="2944368"/>
            <a:ext cx="5605272" cy="3246120"/>
          </a:xfrm>
          <a:prstGeom prst="roundRect">
            <a:avLst>
              <a:gd name="adj" fmla="val 4500"/>
            </a:avLst>
          </a:prstGeom>
          <a:solidFill>
            <a:srgbClr val="EAF4FB"/>
          </a:solidFill>
          <a:ln w="1524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6792" y="3090672"/>
            <a:ext cx="5285232" cy="2971800"/>
          </a:xfrm>
          <a:prstGeom prst="rect">
            <a:avLst/>
          </a:prstGeom>
          <a:noFill/>
        </p:spPr>
        <p:txBody>
          <a:bodyPr wrap="square" lIns="0" rIns="0" tIns="0" bIns="0">
            <a:spAutoFit/>
          </a:bodyPr>
          <a:lstStyle/>
          <a:p>
            <a:pPr algn="l">
              <a:lnSpc>
                <a:spcPct val="100000"/>
              </a:lnSpc>
              <a:spcBef>
                <a:spcPts val="0"/>
              </a:spcBef>
              <a:spcAft>
                <a:spcPts val="600"/>
              </a:spcAft>
            </a:pPr>
            <a:r>
              <a:rPr sz="1300" b="1" i="0">
                <a:solidFill>
                  <a:srgbClr val="143B5C"/>
                </a:solidFill>
                <a:latin typeface="Calibri"/>
              </a:rPr>
              <a:t>What the literature says about upscaling</a:t>
            </a:r>
          </a:p>
          <a:p>
            <a:pPr marL="0">
              <a:lnSpc>
                <a:spcPct val="106000"/>
              </a:lnSpc>
              <a:spcAft>
                <a:spcPts val="800"/>
              </a:spcAft>
            </a:pPr>
            <a:r>
              <a:rPr sz="1000" b="1" i="0">
                <a:solidFill>
                  <a:srgbClr val="00A4E4"/>
                </a:solidFill>
                <a:latin typeface="Calibri"/>
              </a:rPr>
              <a:t>•  </a:t>
            </a:r>
            <a:r>
              <a:rPr sz="1000" b="0" i="0">
                <a:solidFill>
                  <a:srgbClr val="2B2B2B"/>
                </a:solidFill>
                <a:latin typeface="Calibri"/>
              </a:rPr>
              <a:t>Rossow &amp; Coetzee (2021): scale factor ≤ 1.6 keeps errors ≤ 10% (build-up −9.2%, discharge −5.6%); wall effects negligible when container / particle ≥ 8–10 : 1</a:t>
            </a:r>
          </a:p>
          <a:p>
            <a:pPr marL="0">
              <a:lnSpc>
                <a:spcPct val="106000"/>
              </a:lnSpc>
              <a:spcAft>
                <a:spcPts val="800"/>
              </a:spcAft>
            </a:pPr>
            <a:r>
              <a:rPr sz="1000" b="1" i="0">
                <a:solidFill>
                  <a:srgbClr val="00A4E4"/>
                </a:solidFill>
                <a:latin typeface="Calibri"/>
              </a:rPr>
              <a:t>•  </a:t>
            </a:r>
            <a:r>
              <a:rPr sz="1000" b="0" i="0">
                <a:solidFill>
                  <a:srgbClr val="2B2B2B"/>
                </a:solidFill>
                <a:latin typeface="Calibri"/>
              </a:rPr>
              <a:t>Schefler &amp; Coetzee (2023): the maximum scale factor is a geometric property of the bulk measure of interest — and it increases with cohesion</a:t>
            </a:r>
          </a:p>
          <a:p>
            <a:pPr marL="0">
              <a:lnSpc>
                <a:spcPct val="106000"/>
              </a:lnSpc>
              <a:spcAft>
                <a:spcPts val="800"/>
              </a:spcAft>
            </a:pPr>
            <a:r>
              <a:rPr sz="1000" b="1" i="0">
                <a:solidFill>
                  <a:srgbClr val="00A4E4"/>
                </a:solidFill>
                <a:latin typeface="Calibri"/>
              </a:rPr>
              <a:t>•  </a:t>
            </a:r>
            <a:r>
              <a:rPr sz="1000" b="0" i="0">
                <a:solidFill>
                  <a:srgbClr val="2B2B2B"/>
                </a:solidFill>
                <a:latin typeface="Calibri"/>
              </a:rPr>
              <a:t>Implication: calibrate per industrial quantity of interest (build-up, force, flow rate), not per particle</a:t>
            </a:r>
          </a:p>
          <a:p>
            <a:pPr marL="0">
              <a:lnSpc>
                <a:spcPct val="106000"/>
              </a:lnSpc>
              <a:spcAft>
                <a:spcPts val="800"/>
              </a:spcAft>
            </a:pPr>
            <a:r>
              <a:rPr sz="1000" b="1" i="0">
                <a:solidFill>
                  <a:srgbClr val="00A4E4"/>
                </a:solidFill>
                <a:latin typeface="Calibri"/>
              </a:rPr>
              <a:t>•  </a:t>
            </a:r>
            <a:r>
              <a:rPr sz="1000" b="0" i="0">
                <a:solidFill>
                  <a:srgbClr val="2B2B2B"/>
                </a:solidFill>
                <a:latin typeface="Calibri"/>
              </a:rPr>
              <a:t>Kryszak et al. (2020) / Kozicki &amp; Tejchman (2005): contact force spectra and grid-free methods give the validation toolbox for impact &amp; damage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11338560" cy="777240"/>
          </a:xfrm>
          <a:prstGeom prst="rect">
            <a:avLst/>
          </a:prstGeom>
          <a:noFill/>
        </p:spPr>
        <p:txBody>
          <a:bodyPr wrap="square" lIns="0" rIns="0" tIns="0" bIns="0">
            <a:spAutoFit/>
          </a:bodyPr>
          <a:lstStyle/>
          <a:p>
            <a:pPr algn="l">
              <a:lnSpc>
                <a:spcPct val="100000"/>
              </a:lnSpc>
              <a:spcBef>
                <a:spcPts val="0"/>
              </a:spcBef>
              <a:spcAft>
                <a:spcPts val="200"/>
              </a:spcAft>
            </a:pPr>
            <a:r>
              <a:rPr sz="1050" b="1" i="0">
                <a:solidFill>
                  <a:srgbClr val="00A4E4"/>
                </a:solidFill>
                <a:latin typeface="Calibri"/>
              </a:rPr>
              <a:t>TOPIC 3 — METHODOLOGY, NOVELTY &amp; ANTICIPATED CHALLENGES</a:t>
            </a:r>
          </a:p>
          <a:p>
            <a:pPr algn="l">
              <a:lnSpc>
                <a:spcPct val="98000"/>
              </a:lnSpc>
              <a:spcBef>
                <a:spcPts val="0"/>
              </a:spcBef>
              <a:spcAft>
                <a:spcPts val="0"/>
              </a:spcAft>
            </a:pPr>
            <a:r>
              <a:rPr sz="2500" b="1" i="0">
                <a:solidFill>
                  <a:srgbClr val="143B5C"/>
                </a:solidFill>
                <a:latin typeface="Calibri"/>
              </a:rPr>
              <a:t>Project Novelty &amp; Expected Deliverables</a:t>
            </a:r>
          </a:p>
        </p:txBody>
      </p:sp>
      <p:sp>
        <p:nvSpPr>
          <p:cNvPr id="3" name="Rectangle 2"/>
          <p:cNvSpPr/>
          <p:nvPr/>
        </p:nvSpPr>
        <p:spPr>
          <a:xfrm>
            <a:off x="429768" y="969264"/>
            <a:ext cx="1234440" cy="4114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6510528"/>
            <a:ext cx="1136599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56248"/>
            <a:ext cx="8686800" cy="274320"/>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Particle-Based Modelling of Scrap Handling for Green Steel Production  •  TU Delft × Tata Steel Netherlands</a:t>
            </a:r>
          </a:p>
        </p:txBody>
      </p:sp>
      <p:sp>
        <p:nvSpPr>
          <p:cNvPr id="6" name="TextBox 5"/>
          <p:cNvSpPr txBox="1"/>
          <p:nvPr/>
        </p:nvSpPr>
        <p:spPr>
          <a:xfrm>
            <a:off x="10972800" y="6556248"/>
            <a:ext cx="804672" cy="274320"/>
          </a:xfrm>
          <a:prstGeom prst="rect">
            <a:avLst/>
          </a:prstGeom>
          <a:noFill/>
        </p:spPr>
        <p:txBody>
          <a:bodyPr wrap="square" lIns="0" rIns="0" tIns="0" bIns="0">
            <a:spAutoFit/>
          </a:bodyPr>
          <a:lstStyle/>
          <a:p>
            <a:pPr algn="r">
              <a:lnSpc>
                <a:spcPct val="100000"/>
              </a:lnSpc>
              <a:spcBef>
                <a:spcPts val="0"/>
              </a:spcBef>
              <a:spcAft>
                <a:spcPts val="400"/>
              </a:spcAft>
            </a:pPr>
            <a:r>
              <a:rPr sz="900" b="1" i="0">
                <a:solidFill>
                  <a:srgbClr val="6B6B6B"/>
                </a:solidFill>
                <a:latin typeface="Calibri"/>
              </a:rPr>
              <a:t>9</a:t>
            </a:r>
          </a:p>
        </p:txBody>
      </p:sp>
      <p:sp>
        <p:nvSpPr>
          <p:cNvPr id="7" name="Rounded Rectangle 6"/>
          <p:cNvSpPr/>
          <p:nvPr/>
        </p:nvSpPr>
        <p:spPr>
          <a:xfrm>
            <a:off x="411480" y="1115568"/>
            <a:ext cx="11365992" cy="841248"/>
          </a:xfrm>
          <a:prstGeom prst="roundRect">
            <a:avLst>
              <a:gd name="adj" fmla="val 4500"/>
            </a:avLst>
          </a:prstGeom>
          <a:solidFill>
            <a:srgbClr val="143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ctr">
              <a:lnSpc>
                <a:spcPct val="102000"/>
              </a:lnSpc>
            </a:pPr>
            <a:r>
              <a:rPr sz="1250" b="1" i="0">
                <a:solidFill>
                  <a:srgbClr val="E8A33D"/>
                </a:solidFill>
                <a:latin typeface="Calibri"/>
              </a:rPr>
              <a:t>Core novelty:  </a:t>
            </a:r>
            <a:r>
              <a:rPr sz="1250" b="0" i="0">
                <a:solidFill>
                  <a:srgbClr val="FFFFFF"/>
                </a:solidFill>
                <a:latin typeface="Calibri"/>
              </a:rPr>
              <a:t>a multi-scale, multi-property characterisation model that transforms raw Tata Steel data into a dynamic digital twin of EAF scrap infeed — multi-material recipes (bale, shredded, heavy melting scrap) moving through real industrial handling equipment.</a:t>
            </a:r>
          </a:p>
        </p:txBody>
      </p:sp>
      <p:sp>
        <p:nvSpPr>
          <p:cNvPr id="8" name="Rounded Rectangle 7"/>
          <p:cNvSpPr/>
          <p:nvPr/>
        </p:nvSpPr>
        <p:spPr>
          <a:xfrm>
            <a:off x="411480" y="2212848"/>
            <a:ext cx="3675887" cy="3310128"/>
          </a:xfrm>
          <a:prstGeom prst="roundRect">
            <a:avLst>
              <a:gd name="adj" fmla="val 4500"/>
            </a:avLst>
          </a:prstGeom>
          <a:solidFill>
            <a:srgbClr val="EAF4FB"/>
          </a:solidFill>
          <a:ln w="1651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2212848"/>
            <a:ext cx="3675887" cy="47548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a:lstStyle/>
          <a:p>
            <a:pPr algn="ctr"/>
            <a:r>
              <a:rPr sz="1200" b="1" i="0">
                <a:solidFill>
                  <a:srgbClr val="FFFFFF"/>
                </a:solidFill>
                <a:latin typeface="Calibri"/>
              </a:rPr>
              <a:t>Digital twin of EAF infeed</a:t>
            </a:r>
          </a:p>
        </p:txBody>
      </p:sp>
      <p:sp>
        <p:nvSpPr>
          <p:cNvPr id="10" name="TextBox 9"/>
          <p:cNvSpPr txBox="1"/>
          <p:nvPr/>
        </p:nvSpPr>
        <p:spPr>
          <a:xfrm>
            <a:off x="557784" y="2834640"/>
            <a:ext cx="3383279" cy="2578608"/>
          </a:xfrm>
          <a:prstGeom prst="rect">
            <a:avLst/>
          </a:prstGeom>
          <a:noFill/>
        </p:spPr>
        <p:txBody>
          <a:bodyPr wrap="square" lIns="0" rIns="0" tIns="0" bIns="0">
            <a:spAutoFit/>
          </a:bodyPr>
          <a:lstStyle/>
          <a:p>
            <a:pPr>
              <a:lnSpc>
                <a:spcPct val="102000"/>
              </a:lnSpc>
              <a:spcAft>
                <a:spcPts val="800"/>
              </a:spcAft>
            </a:pPr>
            <a:r>
              <a:rPr sz="1000" b="1" i="0">
                <a:solidFill>
                  <a:srgbClr val="00A4E4"/>
                </a:solidFill>
                <a:latin typeface="Calibri"/>
              </a:rPr>
              <a:t>•  </a:t>
            </a:r>
            <a:r>
              <a:rPr sz="1000" b="0" i="0">
                <a:solidFill>
                  <a:srgbClr val="2B2B2B"/>
                </a:solidFill>
                <a:latin typeface="Calibri"/>
              </a:rPr>
              <a:t>Scrap treated as a variable, uncertain feedstock — not a fixed input</a:t>
            </a:r>
          </a:p>
          <a:p>
            <a:pPr>
              <a:lnSpc>
                <a:spcPct val="102000"/>
              </a:lnSpc>
              <a:spcAft>
                <a:spcPts val="800"/>
              </a:spcAft>
            </a:pPr>
            <a:r>
              <a:rPr sz="1000" b="1" i="0">
                <a:solidFill>
                  <a:srgbClr val="00A4E4"/>
                </a:solidFill>
                <a:latin typeface="Calibri"/>
              </a:rPr>
              <a:t>•  </a:t>
            </a:r>
            <a:r>
              <a:rPr sz="1000" b="0" i="0">
                <a:solidFill>
                  <a:srgbClr val="2B2B2B"/>
                </a:solidFill>
                <a:latin typeface="Calibri"/>
              </a:rPr>
              <a:t>Multi-property particles: size, shape, bulk density, porosity, chemical heterogeneity (Cu, Cr …)</a:t>
            </a:r>
          </a:p>
          <a:p>
            <a:pPr>
              <a:lnSpc>
                <a:spcPct val="102000"/>
              </a:lnSpc>
              <a:spcAft>
                <a:spcPts val="800"/>
              </a:spcAft>
            </a:pPr>
            <a:r>
              <a:rPr sz="1000" b="1" i="0">
                <a:solidFill>
                  <a:srgbClr val="00A4E4"/>
                </a:solidFill>
                <a:latin typeface="Calibri"/>
              </a:rPr>
              <a:t>•  </a:t>
            </a:r>
            <a:r>
              <a:rPr sz="1000" b="0" i="0">
                <a:solidFill>
                  <a:srgbClr val="2B2B2B"/>
                </a:solidFill>
                <a:latin typeface="Calibri"/>
              </a:rPr>
              <a:t>Continuous chain: vibratory feeder → chute → charging, in real plant geometry</a:t>
            </a:r>
          </a:p>
        </p:txBody>
      </p:sp>
      <p:sp>
        <p:nvSpPr>
          <p:cNvPr id="11" name="Rounded Rectangle 10"/>
          <p:cNvSpPr/>
          <p:nvPr/>
        </p:nvSpPr>
        <p:spPr>
          <a:xfrm>
            <a:off x="4256531" y="2212848"/>
            <a:ext cx="3675887" cy="3310128"/>
          </a:xfrm>
          <a:prstGeom prst="roundRect">
            <a:avLst>
              <a:gd name="adj" fmla="val 4500"/>
            </a:avLst>
          </a:prstGeom>
          <a:solidFill>
            <a:srgbClr val="EAF4FB"/>
          </a:solidFill>
          <a:ln w="1651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6531" y="2212848"/>
            <a:ext cx="3675887" cy="47548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a:lstStyle/>
          <a:p>
            <a:pPr algn="ctr"/>
            <a:r>
              <a:rPr sz="1200" b="1" i="0">
                <a:solidFill>
                  <a:srgbClr val="FFFFFF"/>
                </a:solidFill>
                <a:latin typeface="Calibri"/>
              </a:rPr>
              <a:t>Optimised discharge sequences</a:t>
            </a:r>
          </a:p>
        </p:txBody>
      </p:sp>
      <p:sp>
        <p:nvSpPr>
          <p:cNvPr id="13" name="TextBox 12"/>
          <p:cNvSpPr txBox="1"/>
          <p:nvPr/>
        </p:nvSpPr>
        <p:spPr>
          <a:xfrm>
            <a:off x="4402836" y="2834640"/>
            <a:ext cx="3383279" cy="2578608"/>
          </a:xfrm>
          <a:prstGeom prst="rect">
            <a:avLst/>
          </a:prstGeom>
          <a:noFill/>
        </p:spPr>
        <p:txBody>
          <a:bodyPr wrap="square" lIns="0" rIns="0" tIns="0" bIns="0">
            <a:spAutoFit/>
          </a:bodyPr>
          <a:lstStyle/>
          <a:p>
            <a:pPr>
              <a:lnSpc>
                <a:spcPct val="102000"/>
              </a:lnSpc>
              <a:spcAft>
                <a:spcPts val="800"/>
              </a:spcAft>
            </a:pPr>
            <a:r>
              <a:rPr sz="1000" b="1" i="0">
                <a:solidFill>
                  <a:srgbClr val="00A4E4"/>
                </a:solidFill>
                <a:latin typeface="Calibri"/>
              </a:rPr>
              <a:t>•  </a:t>
            </a:r>
            <a:r>
              <a:rPr sz="1000" b="0" i="0">
                <a:solidFill>
                  <a:srgbClr val="2B2B2B"/>
                </a:solidFill>
                <a:latin typeface="Calibri"/>
              </a:rPr>
              <a:t>Predict which scrap discharges first under given vibration frequency / amplitude</a:t>
            </a:r>
          </a:p>
          <a:p>
            <a:pPr>
              <a:lnSpc>
                <a:spcPct val="102000"/>
              </a:lnSpc>
              <a:spcAft>
                <a:spcPts val="800"/>
              </a:spcAft>
            </a:pPr>
            <a:r>
              <a:rPr sz="1000" b="1" i="0">
                <a:solidFill>
                  <a:srgbClr val="00A4E4"/>
                </a:solidFill>
                <a:latin typeface="Calibri"/>
              </a:rPr>
              <a:t>•  </a:t>
            </a:r>
            <a:r>
              <a:rPr sz="1000" b="0" i="0">
                <a:solidFill>
                  <a:srgbClr val="2B2B2B"/>
                </a:solidFill>
                <a:latin typeface="Calibri"/>
              </a:rPr>
              <a:t>Avoid chute blockage, bridging and stagnant zones</a:t>
            </a:r>
          </a:p>
          <a:p>
            <a:pPr>
              <a:lnSpc>
                <a:spcPct val="102000"/>
              </a:lnSpc>
              <a:spcAft>
                <a:spcPts val="800"/>
              </a:spcAft>
            </a:pPr>
            <a:r>
              <a:rPr sz="1000" b="1" i="0">
                <a:solidFill>
                  <a:srgbClr val="00A4E4"/>
                </a:solidFill>
                <a:latin typeface="Calibri"/>
              </a:rPr>
              <a:t>•  </a:t>
            </a:r>
            <a:r>
              <a:rPr sz="1000" b="0" i="0">
                <a:solidFill>
                  <a:srgbClr val="2B2B2B"/>
                </a:solidFill>
                <a:latin typeface="Calibri"/>
              </a:rPr>
              <a:t>Smooth, continuous feeding — stable layers at the charge surface</a:t>
            </a:r>
          </a:p>
        </p:txBody>
      </p:sp>
      <p:sp>
        <p:nvSpPr>
          <p:cNvPr id="14" name="Rounded Rectangle 13"/>
          <p:cNvSpPr/>
          <p:nvPr/>
        </p:nvSpPr>
        <p:spPr>
          <a:xfrm>
            <a:off x="8101583" y="2212848"/>
            <a:ext cx="3675887" cy="3310128"/>
          </a:xfrm>
          <a:prstGeom prst="roundRect">
            <a:avLst>
              <a:gd name="adj" fmla="val 4500"/>
            </a:avLst>
          </a:prstGeom>
          <a:solidFill>
            <a:srgbClr val="EAF4FB"/>
          </a:solidFill>
          <a:ln w="1651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1583" y="2212848"/>
            <a:ext cx="3675887" cy="47548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a:lstStyle/>
          <a:p>
            <a:pPr algn="ctr"/>
            <a:r>
              <a:rPr sz="1200" b="1" i="0">
                <a:solidFill>
                  <a:srgbClr val="FFFFFF"/>
                </a:solidFill>
                <a:latin typeface="Calibri"/>
              </a:rPr>
              <a:t>Reduced energy &amp; wear</a:t>
            </a:r>
          </a:p>
        </p:txBody>
      </p:sp>
      <p:sp>
        <p:nvSpPr>
          <p:cNvPr id="16" name="TextBox 15"/>
          <p:cNvSpPr txBox="1"/>
          <p:nvPr/>
        </p:nvSpPr>
        <p:spPr>
          <a:xfrm>
            <a:off x="8247887" y="2834640"/>
            <a:ext cx="3383279" cy="2578608"/>
          </a:xfrm>
          <a:prstGeom prst="rect">
            <a:avLst/>
          </a:prstGeom>
          <a:noFill/>
        </p:spPr>
        <p:txBody>
          <a:bodyPr wrap="square" lIns="0" rIns="0" tIns="0" bIns="0">
            <a:spAutoFit/>
          </a:bodyPr>
          <a:lstStyle/>
          <a:p>
            <a:pPr>
              <a:lnSpc>
                <a:spcPct val="102000"/>
              </a:lnSpc>
              <a:spcAft>
                <a:spcPts val="800"/>
              </a:spcAft>
            </a:pPr>
            <a:r>
              <a:rPr sz="1000" b="1" i="0">
                <a:solidFill>
                  <a:srgbClr val="00A4E4"/>
                </a:solidFill>
                <a:latin typeface="Calibri"/>
              </a:rPr>
              <a:t>•  </a:t>
            </a:r>
            <a:r>
              <a:rPr sz="1000" b="0" i="0">
                <a:solidFill>
                  <a:srgbClr val="2B2B2B"/>
                </a:solidFill>
                <a:latin typeface="Calibri"/>
              </a:rPr>
              <a:t>Fewer late-melting “steel icebergs” → shorter tapping delays (Li et al., 2008)</a:t>
            </a:r>
          </a:p>
          <a:p>
            <a:pPr>
              <a:lnSpc>
                <a:spcPct val="102000"/>
              </a:lnSpc>
              <a:spcAft>
                <a:spcPts val="800"/>
              </a:spcAft>
            </a:pPr>
            <a:r>
              <a:rPr sz="1000" b="1" i="0">
                <a:solidFill>
                  <a:srgbClr val="00A4E4"/>
                </a:solidFill>
                <a:latin typeface="Calibri"/>
              </a:rPr>
              <a:t>•  </a:t>
            </a:r>
            <a:r>
              <a:rPr sz="1000" b="0" i="0">
                <a:solidFill>
                  <a:srgbClr val="2B2B2B"/>
                </a:solidFill>
                <a:latin typeface="Calibri"/>
              </a:rPr>
              <a:t>Predict impact forces &amp; liner wear on chutes and feeders</a:t>
            </a:r>
          </a:p>
          <a:p>
            <a:pPr>
              <a:lnSpc>
                <a:spcPct val="102000"/>
              </a:lnSpc>
              <a:spcAft>
                <a:spcPts val="800"/>
              </a:spcAft>
            </a:pPr>
            <a:r>
              <a:rPr sz="1000" b="1" i="0">
                <a:solidFill>
                  <a:srgbClr val="00A4E4"/>
                </a:solidFill>
                <a:latin typeface="Calibri"/>
              </a:rPr>
              <a:t>•  </a:t>
            </a:r>
            <a:r>
              <a:rPr sz="1000" b="0" i="0">
                <a:solidFill>
                  <a:srgbClr val="2B2B2B"/>
                </a:solidFill>
                <a:latin typeface="Calibri"/>
              </a:rPr>
              <a:t>Cheaper scrap recipes tested virtually before plant trials (HBI + scrap layering)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11338560" cy="777240"/>
          </a:xfrm>
          <a:prstGeom prst="rect">
            <a:avLst/>
          </a:prstGeom>
          <a:noFill/>
        </p:spPr>
        <p:txBody>
          <a:bodyPr wrap="square" lIns="0" rIns="0" tIns="0" bIns="0">
            <a:spAutoFit/>
          </a:bodyPr>
          <a:lstStyle/>
          <a:p>
            <a:pPr algn="l">
              <a:lnSpc>
                <a:spcPct val="100000"/>
              </a:lnSpc>
              <a:spcBef>
                <a:spcPts val="0"/>
              </a:spcBef>
              <a:spcAft>
                <a:spcPts val="200"/>
              </a:spcAft>
            </a:pPr>
            <a:r>
              <a:rPr sz="1050" b="1" i="0">
                <a:solidFill>
                  <a:srgbClr val="00A4E4"/>
                </a:solidFill>
                <a:latin typeface="Calibri"/>
              </a:rPr>
              <a:t>TOPIC 4 — REFLECTION ON PERSONAL SKILLS &amp; COMPETENCIES</a:t>
            </a:r>
          </a:p>
          <a:p>
            <a:pPr algn="l">
              <a:lnSpc>
                <a:spcPct val="98000"/>
              </a:lnSpc>
              <a:spcBef>
                <a:spcPts val="0"/>
              </a:spcBef>
              <a:spcAft>
                <a:spcPts val="0"/>
              </a:spcAft>
            </a:pPr>
            <a:r>
              <a:rPr sz="2500" b="1" i="0">
                <a:solidFill>
                  <a:srgbClr val="143B5C"/>
                </a:solidFill>
                <a:latin typeface="Calibri"/>
              </a:rPr>
              <a:t>Technical Alignment with Project Requirements</a:t>
            </a:r>
          </a:p>
        </p:txBody>
      </p:sp>
      <p:sp>
        <p:nvSpPr>
          <p:cNvPr id="3" name="Rectangle 2"/>
          <p:cNvSpPr/>
          <p:nvPr/>
        </p:nvSpPr>
        <p:spPr>
          <a:xfrm>
            <a:off x="429768" y="969264"/>
            <a:ext cx="1234440" cy="4114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6510528"/>
            <a:ext cx="1136599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56248"/>
            <a:ext cx="8686800" cy="274320"/>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Particle-Based Modelling of Scrap Handling for Green Steel Production  •  TU Delft × Tata Steel Netherlands</a:t>
            </a:r>
          </a:p>
        </p:txBody>
      </p:sp>
      <p:sp>
        <p:nvSpPr>
          <p:cNvPr id="6" name="TextBox 5"/>
          <p:cNvSpPr txBox="1"/>
          <p:nvPr/>
        </p:nvSpPr>
        <p:spPr>
          <a:xfrm>
            <a:off x="10972800" y="6556248"/>
            <a:ext cx="804672" cy="274320"/>
          </a:xfrm>
          <a:prstGeom prst="rect">
            <a:avLst/>
          </a:prstGeom>
          <a:noFill/>
        </p:spPr>
        <p:txBody>
          <a:bodyPr wrap="square" lIns="0" rIns="0" tIns="0" bIns="0">
            <a:spAutoFit/>
          </a:bodyPr>
          <a:lstStyle/>
          <a:p>
            <a:pPr algn="r">
              <a:lnSpc>
                <a:spcPct val="100000"/>
              </a:lnSpc>
              <a:spcBef>
                <a:spcPts val="0"/>
              </a:spcBef>
              <a:spcAft>
                <a:spcPts val="400"/>
              </a:spcAft>
            </a:pPr>
            <a:r>
              <a:rPr sz="900" b="1" i="0">
                <a:solidFill>
                  <a:srgbClr val="6B6B6B"/>
                </a:solidFill>
                <a:latin typeface="Calibri"/>
              </a:rPr>
              <a:t>10</a:t>
            </a:r>
          </a:p>
        </p:txBody>
      </p:sp>
      <p:graphicFrame>
        <p:nvGraphicFramePr>
          <p:cNvPr id="7" name="Table 6"/>
          <p:cNvGraphicFramePr>
            <a:graphicFrameLocks noGrp="1"/>
          </p:cNvGraphicFramePr>
          <p:nvPr/>
        </p:nvGraphicFramePr>
        <p:xfrm>
          <a:off x="411480" y="1188720"/>
          <a:ext cx="11365992" cy="4023360"/>
        </p:xfrm>
        <a:graphic>
          <a:graphicData uri="http://schemas.openxmlformats.org/drawingml/2006/table">
            <a:tbl>
              <a:tblPr firstRow="1" bandRow="1">
                <a:tableStyleId>{5C22544A-7EE6-4342-B048-85BDC9FD1C3A}</a:tableStyleId>
              </a:tblPr>
              <a:tblGrid>
                <a:gridCol w="4160520"/>
                <a:gridCol w="7205472"/>
              </a:tblGrid>
              <a:tr h="365760">
                <a:tc>
                  <a:txBody>
                    <a:bodyPr wrap="square" lIns="64008" rIns="64008" tIns="27432" bIns="27432"/>
                    <a:lstStyle/>
                    <a:p>
                      <a:pPr algn="l">
                        <a:lnSpc>
                          <a:spcPct val="100000"/>
                        </a:lnSpc>
                      </a:pPr>
                      <a:r>
                        <a:rPr sz="1100" b="1" i="0">
                          <a:solidFill>
                            <a:srgbClr val="FFFFFF"/>
                          </a:solidFill>
                          <a:latin typeface="Calibri"/>
                        </a:rPr>
                        <a:t>Project requirement</a:t>
                      </a:r>
                    </a:p>
                  </a:txBody>
                  <a:tcPr anchor="ctr">
                    <a:solidFill>
                      <a:srgbClr val="143B5C"/>
                    </a:solidFill>
                  </a:tcPr>
                </a:tc>
                <a:tc>
                  <a:txBody>
                    <a:bodyPr wrap="square" lIns="64008" rIns="64008" tIns="27432" bIns="27432"/>
                    <a:lstStyle/>
                    <a:p>
                      <a:pPr algn="l">
                        <a:lnSpc>
                          <a:spcPct val="100000"/>
                        </a:lnSpc>
                      </a:pPr>
                      <a:r>
                        <a:rPr sz="1100" b="1" i="0">
                          <a:solidFill>
                            <a:srgbClr val="FFFFFF"/>
                          </a:solidFill>
                          <a:latin typeface="Calibri"/>
                        </a:rPr>
                        <a:t>My toolkit</a:t>
                      </a:r>
                    </a:p>
                  </a:txBody>
                  <a:tcPr anchor="ctr">
                    <a:solidFill>
                      <a:srgbClr val="00A4E4"/>
                    </a:solidFill>
                  </a:tcPr>
                </a:tc>
              </a:tr>
              <a:tr h="914400">
                <a:tc>
                  <a:txBody>
                    <a:bodyPr wrap="square" lIns="64008" rIns="64008" tIns="27432" bIns="27432"/>
                    <a:lstStyle/>
                    <a:p>
                      <a:pPr algn="l">
                        <a:lnSpc>
                          <a:spcPct val="100000"/>
                        </a:lnSpc>
                      </a:pPr>
                      <a:r>
                        <a:rPr sz="1050" b="1" i="0">
                          <a:solidFill>
                            <a:srgbClr val="143B5C"/>
                          </a:solidFill>
                          <a:latin typeface="Calibri"/>
                        </a:rPr>
                        <a:t>Non-spherical DEM modelling — shape representation, contact detection, force &amp; torque models</a:t>
                      </a:r>
                    </a:p>
                  </a:txBody>
                  <a:tcPr anchor="ctr">
                    <a:solidFill>
                      <a:srgbClr val="F5F9FC"/>
                    </a:solidFill>
                  </a:tcPr>
                </a:tc>
                <a:tc>
                  <a:txBody>
                    <a:bodyPr wrap="square" lIns="64008" rIns="64008" tIns="27432" bIns="27432"/>
                    <a:lstStyle/>
                    <a:p>
                      <a:pPr algn="l">
                        <a:lnSpc>
                          <a:spcPct val="100000"/>
                        </a:lnSpc>
                      </a:pPr>
                      <a:r>
                        <a:rPr sz="1050" b="0" i="0">
                          <a:solidFill>
                            <a:srgbClr val="2B2B2B"/>
                          </a:solidFill>
                          <a:latin typeface="Calibri"/>
                        </a:rPr>
                        <a:t>Numerical programming in Python / C++; multi-sphere &amp; super-quadric particle modelling; hands-on with Altair EDEM, Ansys Rocky, LIGGGHTS and MFIX-DEM (open source)</a:t>
                      </a:r>
                    </a:p>
                  </a:txBody>
                  <a:tcPr anchor="ctr">
                    <a:solidFill>
                      <a:srgbClr val="FFFFFF"/>
                    </a:solidFill>
                  </a:tcPr>
                </a:tc>
              </a:tr>
              <a:tr h="914400">
                <a:tc>
                  <a:txBody>
                    <a:bodyPr wrap="square" lIns="64008" rIns="64008" tIns="27432" bIns="27432"/>
                    <a:lstStyle/>
                    <a:p>
                      <a:pPr algn="l">
                        <a:lnSpc>
                          <a:spcPct val="100000"/>
                        </a:lnSpc>
                      </a:pPr>
                      <a:r>
                        <a:rPr sz="1050" b="1" i="0">
                          <a:solidFill>
                            <a:srgbClr val="143B5C"/>
                          </a:solidFill>
                          <a:latin typeface="Calibri"/>
                        </a:rPr>
                        <a:t>Data integration — plant data into a digital twin</a:t>
                      </a:r>
                    </a:p>
                  </a:txBody>
                  <a:tcPr anchor="ctr">
                    <a:solidFill>
                      <a:srgbClr val="F5F9FC"/>
                    </a:solidFill>
                  </a:tcPr>
                </a:tc>
                <a:tc>
                  <a:txBody>
                    <a:bodyPr wrap="square" lIns="64008" rIns="64008" tIns="27432" bIns="27432"/>
                    <a:lstStyle/>
                    <a:p>
                      <a:pPr algn="l">
                        <a:lnSpc>
                          <a:spcPct val="100000"/>
                        </a:lnSpc>
                      </a:pPr>
                      <a:r>
                        <a:rPr sz="1050" b="0" i="0">
                          <a:solidFill>
                            <a:srgbClr val="2B2B2B"/>
                          </a:solidFill>
                          <a:latin typeface="Calibri"/>
                        </a:rPr>
                        <a:t>Experience handling large data arrays; Python data pipelines (pandas / NumPy); statistical composition &amp; uncertainty estimation for scrap recipes</a:t>
                      </a:r>
                    </a:p>
                  </a:txBody>
                  <a:tcPr anchor="ctr">
                    <a:solidFill>
                      <a:srgbClr val="F5F9FC"/>
                    </a:solidFill>
                  </a:tcPr>
                </a:tc>
              </a:tr>
              <a:tr h="914400">
                <a:tc>
                  <a:txBody>
                    <a:bodyPr wrap="square" lIns="64008" rIns="64008" tIns="27432" bIns="27432"/>
                    <a:lstStyle/>
                    <a:p>
                      <a:pPr algn="l">
                        <a:lnSpc>
                          <a:spcPct val="100000"/>
                        </a:lnSpc>
                      </a:pPr>
                      <a:r>
                        <a:rPr sz="1050" b="1" i="0">
                          <a:solidFill>
                            <a:srgbClr val="143B5C"/>
                          </a:solidFill>
                          <a:latin typeface="Calibri"/>
                        </a:rPr>
                        <a:t>Experimental validation — physical boundary tests</a:t>
                      </a:r>
                    </a:p>
                  </a:txBody>
                  <a:tcPr anchor="ctr">
                    <a:solidFill>
                      <a:srgbClr val="F5F9FC"/>
                    </a:solidFill>
                  </a:tcPr>
                </a:tc>
                <a:tc>
                  <a:txBody>
                    <a:bodyPr wrap="square" lIns="64008" rIns="64008" tIns="27432" bIns="27432"/>
                    <a:lstStyle/>
                    <a:p>
                      <a:pPr algn="l">
                        <a:lnSpc>
                          <a:spcPct val="100000"/>
                        </a:lnSpc>
                      </a:pPr>
                      <a:r>
                        <a:rPr sz="1050" b="0" i="0">
                          <a:solidFill>
                            <a:srgbClr val="2B2B2B"/>
                          </a:solidFill>
                          <a:latin typeface="Calibri"/>
                        </a:rPr>
                        <a:t>Angle-of-repose, drop/bounce and draw-down tests; feeder mass-flow tracking; high-speed video &amp; PIV analysis of flow trajectories</a:t>
                      </a:r>
                    </a:p>
                  </a:txBody>
                  <a:tcPr anchor="ctr">
                    <a:solidFill>
                      <a:srgbClr val="FFFFFF"/>
                    </a:solidFill>
                  </a:tcPr>
                </a:tc>
              </a:tr>
              <a:tr h="914400">
                <a:tc>
                  <a:txBody>
                    <a:bodyPr wrap="square" lIns="64008" rIns="64008" tIns="27432" bIns="27432"/>
                    <a:lstStyle/>
                    <a:p>
                      <a:pPr algn="l">
                        <a:lnSpc>
                          <a:spcPct val="100000"/>
                        </a:lnSpc>
                      </a:pPr>
                      <a:r>
                        <a:rPr sz="1050" b="1" i="0">
                          <a:solidFill>
                            <a:srgbClr val="143B5C"/>
                          </a:solidFill>
                          <a:latin typeface="Calibri"/>
                        </a:rPr>
                        <a:t>Industrial collaboration — from academia to the plant floor</a:t>
                      </a:r>
                    </a:p>
                  </a:txBody>
                  <a:tcPr anchor="ctr">
                    <a:solidFill>
                      <a:srgbClr val="F5F9FC"/>
                    </a:solidFill>
                  </a:tcPr>
                </a:tc>
                <a:tc>
                  <a:txBody>
                    <a:bodyPr wrap="square" lIns="64008" rIns="64008" tIns="27432" bIns="27432"/>
                    <a:lstStyle/>
                    <a:p>
                      <a:pPr algn="l">
                        <a:lnSpc>
                          <a:spcPct val="100000"/>
                        </a:lnSpc>
                      </a:pPr>
                      <a:r>
                        <a:rPr sz="1050" b="0" i="0">
                          <a:solidFill>
                            <a:srgbClr val="2B2B2B"/>
                          </a:solidFill>
                          <a:latin typeface="Calibri"/>
                        </a:rPr>
                        <a:t>Translating dense academic results into clear, operational value for plant operations; structured project management of a 4-year industrial PhD</a:t>
                      </a:r>
                    </a:p>
                  </a:txBody>
                  <a:tcPr anchor="ctr">
                    <a:solidFill>
                      <a:srgbClr val="F5F9FC"/>
                    </a:solidFill>
                  </a:tcPr>
                </a:tc>
              </a:tr>
            </a:tbl>
          </a:graphicData>
        </a:graphic>
      </p:graphicFrame>
      <p:sp>
        <p:nvSpPr>
          <p:cNvPr id="8" name="Rounded Rectangle 7"/>
          <p:cNvSpPr/>
          <p:nvPr/>
        </p:nvSpPr>
        <p:spPr>
          <a:xfrm>
            <a:off x="411480" y="5440680"/>
            <a:ext cx="11365992" cy="868680"/>
          </a:xfrm>
          <a:prstGeom prst="roundRect">
            <a:avLst>
              <a:gd name="adj" fmla="val 45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ctr">
              <a:lnSpc>
                <a:spcPct val="104000"/>
              </a:lnSpc>
            </a:pPr>
            <a:r>
              <a:rPr sz="1150" b="1" i="0">
                <a:solidFill>
                  <a:srgbClr val="143B5C"/>
                </a:solidFill>
                <a:latin typeface="Calibri"/>
              </a:rPr>
              <a:t>Simulation strategy:  </a:t>
            </a:r>
            <a:r>
              <a:rPr sz="1150" b="0" i="0">
                <a:solidFill>
                  <a:srgbClr val="2B2B2B"/>
                </a:solidFill>
                <a:latin typeface="Calibri"/>
              </a:rPr>
              <a:t>commercial engines (EDEM, Rocky) for fast industrial delivery + open-source codes (LIGGGHTS, MFIX-DEM) for custom contact models, CFD-DEM coupling and cost control — validated the same way: physical experiments → bulk response → plant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11338560" cy="777240"/>
          </a:xfrm>
          <a:prstGeom prst="rect">
            <a:avLst/>
          </a:prstGeom>
          <a:noFill/>
        </p:spPr>
        <p:txBody>
          <a:bodyPr wrap="square" lIns="0" rIns="0" tIns="0" bIns="0">
            <a:spAutoFit/>
          </a:bodyPr>
          <a:lstStyle/>
          <a:p>
            <a:pPr algn="l">
              <a:lnSpc>
                <a:spcPct val="100000"/>
              </a:lnSpc>
              <a:spcBef>
                <a:spcPts val="0"/>
              </a:spcBef>
              <a:spcAft>
                <a:spcPts val="200"/>
              </a:spcAft>
            </a:pPr>
            <a:r>
              <a:rPr sz="1050" b="1" i="0">
                <a:solidFill>
                  <a:srgbClr val="00A4E4"/>
                </a:solidFill>
                <a:latin typeface="Calibri"/>
              </a:rPr>
              <a:t>TOPIC 4 — REFLECTION ON PERSONAL SKILLS &amp; COMPETENCIES</a:t>
            </a:r>
          </a:p>
          <a:p>
            <a:pPr algn="l">
              <a:lnSpc>
                <a:spcPct val="98000"/>
              </a:lnSpc>
              <a:spcBef>
                <a:spcPts val="0"/>
              </a:spcBef>
              <a:spcAft>
                <a:spcPts val="0"/>
              </a:spcAft>
            </a:pPr>
            <a:r>
              <a:rPr sz="2500" b="1" i="0">
                <a:solidFill>
                  <a:srgbClr val="143B5C"/>
                </a:solidFill>
                <a:latin typeface="Calibri"/>
              </a:rPr>
              <a:t>Communication &amp; Collaborative Mindset</a:t>
            </a:r>
          </a:p>
        </p:txBody>
      </p:sp>
      <p:sp>
        <p:nvSpPr>
          <p:cNvPr id="3" name="Rectangle 2"/>
          <p:cNvSpPr/>
          <p:nvPr/>
        </p:nvSpPr>
        <p:spPr>
          <a:xfrm>
            <a:off x="429768" y="969264"/>
            <a:ext cx="1234440" cy="4114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6510528"/>
            <a:ext cx="1136599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56248"/>
            <a:ext cx="8686800" cy="274320"/>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Particle-Based Modelling of Scrap Handling for Green Steel Production  •  TU Delft × Tata Steel Netherlands</a:t>
            </a:r>
          </a:p>
        </p:txBody>
      </p:sp>
      <p:sp>
        <p:nvSpPr>
          <p:cNvPr id="6" name="TextBox 5"/>
          <p:cNvSpPr txBox="1"/>
          <p:nvPr/>
        </p:nvSpPr>
        <p:spPr>
          <a:xfrm>
            <a:off x="10972800" y="6556248"/>
            <a:ext cx="804672" cy="274320"/>
          </a:xfrm>
          <a:prstGeom prst="rect">
            <a:avLst/>
          </a:prstGeom>
          <a:noFill/>
        </p:spPr>
        <p:txBody>
          <a:bodyPr wrap="square" lIns="0" rIns="0" tIns="0" bIns="0">
            <a:spAutoFit/>
          </a:bodyPr>
          <a:lstStyle/>
          <a:p>
            <a:pPr algn="r">
              <a:lnSpc>
                <a:spcPct val="100000"/>
              </a:lnSpc>
              <a:spcBef>
                <a:spcPts val="0"/>
              </a:spcBef>
              <a:spcAft>
                <a:spcPts val="400"/>
              </a:spcAft>
            </a:pPr>
            <a:r>
              <a:rPr sz="900" b="1" i="0">
                <a:solidFill>
                  <a:srgbClr val="6B6B6B"/>
                </a:solidFill>
                <a:latin typeface="Calibri"/>
              </a:rPr>
              <a:t>11</a:t>
            </a:r>
          </a:p>
        </p:txBody>
      </p:sp>
      <p:sp>
        <p:nvSpPr>
          <p:cNvPr id="7" name="Rounded Rectangle 6"/>
          <p:cNvSpPr/>
          <p:nvPr/>
        </p:nvSpPr>
        <p:spPr>
          <a:xfrm>
            <a:off x="594360" y="1508760"/>
            <a:ext cx="3611880" cy="3291840"/>
          </a:xfrm>
          <a:prstGeom prst="roundRect">
            <a:avLst>
              <a:gd name="adj" fmla="val 4500"/>
            </a:avLst>
          </a:prstGeom>
          <a:solidFill>
            <a:srgbClr val="EAF4FB"/>
          </a:solidFill>
          <a:ln w="17780">
            <a:solidFill>
              <a:srgbClr val="00A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09928"/>
            <a:ext cx="3154680" cy="2926080"/>
          </a:xfrm>
          <a:prstGeom prst="rect">
            <a:avLst/>
          </a:prstGeom>
          <a:noFill/>
        </p:spPr>
        <p:txBody>
          <a:bodyPr wrap="square" lIns="0" rIns="0" tIns="0" bIns="0">
            <a:spAutoFit/>
          </a:bodyPr>
          <a:lstStyle/>
          <a:p>
            <a:pPr algn="l">
              <a:lnSpc>
                <a:spcPct val="100000"/>
              </a:lnSpc>
              <a:spcBef>
                <a:spcPts val="0"/>
              </a:spcBef>
              <a:spcAft>
                <a:spcPts val="600"/>
              </a:spcAft>
            </a:pPr>
            <a:r>
              <a:rPr sz="1400" b="1" i="0">
                <a:solidFill>
                  <a:srgbClr val="143B5C"/>
                </a:solidFill>
                <a:latin typeface="Calibri"/>
              </a:rPr>
              <a:t>TU Delft — Academic research</a:t>
            </a:r>
          </a:p>
          <a:p>
            <a:pPr marL="0">
              <a:lnSpc>
                <a:spcPct val="106000"/>
              </a:lnSpc>
              <a:spcAft>
                <a:spcPts val="700"/>
              </a:spcAft>
            </a:pPr>
            <a:r>
              <a:rPr sz="1050" b="1" i="0">
                <a:solidFill>
                  <a:srgbClr val="00A4E4"/>
                </a:solidFill>
                <a:latin typeface="Calibri"/>
              </a:rPr>
              <a:t>•  </a:t>
            </a:r>
            <a:r>
              <a:rPr sz="1050" b="0" i="0">
                <a:solidFill>
                  <a:srgbClr val="2B2B2B"/>
                </a:solidFill>
                <a:latin typeface="Calibri"/>
              </a:rPr>
              <a:t>DEM / CFD-DEM theory for non-spherical particles</a:t>
            </a:r>
          </a:p>
          <a:p>
            <a:pPr marL="0">
              <a:lnSpc>
                <a:spcPct val="106000"/>
              </a:lnSpc>
              <a:spcAft>
                <a:spcPts val="700"/>
              </a:spcAft>
            </a:pPr>
            <a:r>
              <a:rPr sz="1050" b="1" i="0">
                <a:solidFill>
                  <a:srgbClr val="00A4E4"/>
                </a:solidFill>
                <a:latin typeface="Calibri"/>
              </a:rPr>
              <a:t>•  </a:t>
            </a:r>
            <a:r>
              <a:rPr sz="1050" b="0" i="0">
                <a:solidFill>
                  <a:srgbClr val="2B2B2B"/>
                </a:solidFill>
                <a:latin typeface="Calibri"/>
              </a:rPr>
              <a:t>Rigorous validation science: lab experiments, uncertainty, upscaling</a:t>
            </a:r>
          </a:p>
          <a:p>
            <a:pPr marL="0">
              <a:lnSpc>
                <a:spcPct val="106000"/>
              </a:lnSpc>
              <a:spcAft>
                <a:spcPts val="700"/>
              </a:spcAft>
            </a:pPr>
            <a:r>
              <a:rPr sz="1050" b="1" i="0">
                <a:solidFill>
                  <a:srgbClr val="00A4E4"/>
                </a:solidFill>
                <a:latin typeface="Calibri"/>
              </a:rPr>
              <a:t>•  </a:t>
            </a:r>
            <a:r>
              <a:rPr sz="1050" b="0" i="0">
                <a:solidFill>
                  <a:srgbClr val="2B2B2B"/>
                </a:solidFill>
                <a:latin typeface="Calibri"/>
              </a:rPr>
              <a:t>Publication track record (international conferences &amp; journals)</a:t>
            </a:r>
          </a:p>
        </p:txBody>
      </p:sp>
      <p:sp>
        <p:nvSpPr>
          <p:cNvPr id="9" name="Rounded Rectangle 8"/>
          <p:cNvSpPr/>
          <p:nvPr/>
        </p:nvSpPr>
        <p:spPr>
          <a:xfrm>
            <a:off x="7616952" y="1508760"/>
            <a:ext cx="3977639" cy="3291840"/>
          </a:xfrm>
          <a:prstGeom prst="roundRect">
            <a:avLst>
              <a:gd name="adj" fmla="val 4500"/>
            </a:avLst>
          </a:prstGeom>
          <a:solidFill>
            <a:srgbClr val="D9EEFB"/>
          </a:solidFill>
          <a:ln w="17780">
            <a:solidFill>
              <a:srgbClr val="143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5552" y="1709928"/>
            <a:ext cx="3520439" cy="2926080"/>
          </a:xfrm>
          <a:prstGeom prst="rect">
            <a:avLst/>
          </a:prstGeom>
          <a:noFill/>
        </p:spPr>
        <p:txBody>
          <a:bodyPr wrap="square" lIns="0" rIns="0" tIns="0" bIns="0">
            <a:spAutoFit/>
          </a:bodyPr>
          <a:lstStyle/>
          <a:p>
            <a:pPr algn="l">
              <a:lnSpc>
                <a:spcPct val="100000"/>
              </a:lnSpc>
              <a:spcBef>
                <a:spcPts val="0"/>
              </a:spcBef>
              <a:spcAft>
                <a:spcPts val="600"/>
              </a:spcAft>
            </a:pPr>
            <a:r>
              <a:rPr sz="1400" b="1" i="0">
                <a:solidFill>
                  <a:srgbClr val="143B5C"/>
                </a:solidFill>
                <a:latin typeface="Calibri"/>
              </a:rPr>
              <a:t>Tata Steel Netherlands — Industry</a:t>
            </a:r>
          </a:p>
          <a:p>
            <a:pPr marL="0">
              <a:lnSpc>
                <a:spcPct val="106000"/>
              </a:lnSpc>
              <a:spcAft>
                <a:spcPts val="700"/>
              </a:spcAft>
            </a:pPr>
            <a:r>
              <a:rPr sz="1050" b="1" i="0">
                <a:solidFill>
                  <a:srgbClr val="00A4E4"/>
                </a:solidFill>
                <a:latin typeface="Calibri"/>
              </a:rPr>
              <a:t>•  </a:t>
            </a:r>
            <a:r>
              <a:rPr sz="1050" b="0" i="0">
                <a:solidFill>
                  <a:srgbClr val="2B2B2B"/>
                </a:solidFill>
                <a:latin typeface="Calibri"/>
              </a:rPr>
              <a:t>IJmuiden plant data, access &amp; operational constraints</a:t>
            </a:r>
          </a:p>
          <a:p>
            <a:pPr marL="0">
              <a:lnSpc>
                <a:spcPct val="106000"/>
              </a:lnSpc>
              <a:spcAft>
                <a:spcPts val="700"/>
              </a:spcAft>
            </a:pPr>
            <a:r>
              <a:rPr sz="1050" b="1" i="0">
                <a:solidFill>
                  <a:srgbClr val="00A4E4"/>
                </a:solidFill>
                <a:latin typeface="Calibri"/>
              </a:rPr>
              <a:t>•  </a:t>
            </a:r>
            <a:r>
              <a:rPr sz="1050" b="0" i="0">
                <a:solidFill>
                  <a:srgbClr val="2B2B2B"/>
                </a:solidFill>
                <a:latin typeface="Calibri"/>
              </a:rPr>
              <a:t>HBI + scrap recipes for green (hydrogen-based) steel production</a:t>
            </a:r>
          </a:p>
          <a:p>
            <a:pPr marL="0">
              <a:lnSpc>
                <a:spcPct val="106000"/>
              </a:lnSpc>
              <a:spcAft>
                <a:spcPts val="700"/>
              </a:spcAft>
            </a:pPr>
            <a:r>
              <a:rPr sz="1050" b="1" i="0">
                <a:solidFill>
                  <a:srgbClr val="00A4E4"/>
                </a:solidFill>
                <a:latin typeface="Calibri"/>
              </a:rPr>
              <a:t>•  </a:t>
            </a:r>
            <a:r>
              <a:rPr sz="1050" b="0" i="0">
                <a:solidFill>
                  <a:srgbClr val="2B2B2B"/>
                </a:solidFill>
                <a:latin typeface="Calibri"/>
              </a:rPr>
              <a:t>Plant engineers as co-developers of the digital twin</a:t>
            </a:r>
          </a:p>
        </p:txBody>
      </p:sp>
      <p:sp>
        <p:nvSpPr>
          <p:cNvPr id="11" name="Rectangle 10"/>
          <p:cNvSpPr/>
          <p:nvPr/>
        </p:nvSpPr>
        <p:spPr>
          <a:xfrm>
            <a:off x="4681728" y="2788920"/>
            <a:ext cx="2834640" cy="749808"/>
          </a:xfrm>
          <a:prstGeom prst="rect">
            <a:avLst/>
          </a:prstGeom>
          <a:solidFill>
            <a:srgbClr val="143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E8A33D"/>
                </a:solidFill>
                <a:latin typeface="Calibri"/>
              </a:rPr>
              <a:t>THIS PHD PROJECT</a:t>
            </a:r>
          </a:p>
          <a:p>
            <a:pPr algn="ctr"/>
            <a:r>
              <a:rPr sz="950" b="0" i="0">
                <a:solidFill>
                  <a:srgbClr val="FFFFFF"/>
                </a:solidFill>
                <a:latin typeface="Calibri"/>
              </a:rPr>
              <a:t>particle-based digital twin of scrap handling</a:t>
            </a:r>
          </a:p>
        </p:txBody>
      </p:sp>
      <p:sp>
        <p:nvSpPr>
          <p:cNvPr id="12" name="Right Arrow 11"/>
          <p:cNvSpPr/>
          <p:nvPr/>
        </p:nvSpPr>
        <p:spPr>
          <a:xfrm>
            <a:off x="4443984" y="2999232"/>
            <a:ext cx="256032" cy="274320"/>
          </a:xfrm>
          <a:prstGeom prst="rightArrow">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333488" y="2999232"/>
            <a:ext cx="256032" cy="274320"/>
          </a:xfrm>
          <a:prstGeom prst="rightArrow">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rot="10800000">
            <a:off x="4443984" y="3310128"/>
            <a:ext cx="256032" cy="274320"/>
          </a:xfrm>
          <a:prstGeom prst="right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rot="10800000">
            <a:off x="7333488" y="3310128"/>
            <a:ext cx="256032" cy="274320"/>
          </a:xfrm>
          <a:prstGeom prst="right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5138928"/>
            <a:ext cx="10972800" cy="1188720"/>
          </a:xfrm>
          <a:prstGeom prst="rect">
            <a:avLst/>
          </a:prstGeom>
          <a:noFill/>
        </p:spPr>
        <p:txBody>
          <a:bodyPr wrap="square" lIns="0" rIns="0" tIns="0" bIns="0">
            <a:spAutoFit/>
          </a:bodyPr>
          <a:lstStyle/>
          <a:p>
            <a:pPr algn="l">
              <a:lnSpc>
                <a:spcPct val="100000"/>
              </a:lnSpc>
              <a:spcBef>
                <a:spcPts val="0"/>
              </a:spcBef>
              <a:spcAft>
                <a:spcPts val="600"/>
              </a:spcAft>
            </a:pPr>
            <a:r>
              <a:rPr sz="1300" b="1" i="0">
                <a:solidFill>
                  <a:srgbClr val="143B5C"/>
                </a:solidFill>
                <a:latin typeface="Calibri"/>
              </a:rPr>
              <a:t>I pride myself on being able to translate dense academic data into clear, operational value for plant operations.</a:t>
            </a:r>
          </a:p>
          <a:p>
            <a:pPr algn="l">
              <a:lnSpc>
                <a:spcPct val="110000"/>
              </a:lnSpc>
              <a:spcBef>
                <a:spcPts val="0"/>
              </a:spcBef>
              <a:spcAft>
                <a:spcPts val="400"/>
              </a:spcAft>
            </a:pPr>
            <a:r>
              <a:rPr sz="1100" b="0" i="0">
                <a:solidFill>
                  <a:srgbClr val="2B2B2B"/>
                </a:solidFill>
                <a:latin typeface="Calibri"/>
              </a:rPr>
              <a:t>I am eager to collaborate directly with industrial engineers in the Netherlands — gathering on-site data, co-designing validation campaigns, and ensuring the doctoral research delivers practical, bottom-line improvements to the steelmaking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11338560" cy="777240"/>
          </a:xfrm>
          <a:prstGeom prst="rect">
            <a:avLst/>
          </a:prstGeom>
          <a:noFill/>
        </p:spPr>
        <p:txBody>
          <a:bodyPr wrap="square" lIns="0" rIns="0" tIns="0" bIns="0">
            <a:spAutoFit/>
          </a:bodyPr>
          <a:lstStyle/>
          <a:p>
            <a:pPr algn="l">
              <a:lnSpc>
                <a:spcPct val="100000"/>
              </a:lnSpc>
              <a:spcBef>
                <a:spcPts val="0"/>
              </a:spcBef>
              <a:spcAft>
                <a:spcPts val="200"/>
              </a:spcAft>
            </a:pPr>
            <a:r>
              <a:rPr sz="1050" b="1" i="0">
                <a:solidFill>
                  <a:srgbClr val="00A4E4"/>
                </a:solidFill>
                <a:latin typeface="Calibri"/>
              </a:rPr>
              <a:t>CLOSING</a:t>
            </a:r>
          </a:p>
          <a:p>
            <a:pPr algn="l">
              <a:lnSpc>
                <a:spcPct val="98000"/>
              </a:lnSpc>
              <a:spcBef>
                <a:spcPts val="0"/>
              </a:spcBef>
              <a:spcAft>
                <a:spcPts val="0"/>
              </a:spcAft>
            </a:pPr>
            <a:r>
              <a:rPr sz="2500" b="1" i="0">
                <a:solidFill>
                  <a:srgbClr val="143B5C"/>
                </a:solidFill>
                <a:latin typeface="Calibri"/>
              </a:rPr>
              <a:t>Conclusion &amp; Q&amp;A</a:t>
            </a:r>
          </a:p>
        </p:txBody>
      </p:sp>
      <p:sp>
        <p:nvSpPr>
          <p:cNvPr id="3" name="Rectangle 2"/>
          <p:cNvSpPr/>
          <p:nvPr/>
        </p:nvSpPr>
        <p:spPr>
          <a:xfrm>
            <a:off x="429768" y="969264"/>
            <a:ext cx="1234440" cy="4114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6510528"/>
            <a:ext cx="1136599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56248"/>
            <a:ext cx="8686800" cy="274320"/>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Particle-Based Modelling of Scrap Handling for Green Steel Production  •  TU Delft × Tata Steel Netherlands</a:t>
            </a:r>
          </a:p>
        </p:txBody>
      </p:sp>
      <p:sp>
        <p:nvSpPr>
          <p:cNvPr id="6" name="TextBox 5"/>
          <p:cNvSpPr txBox="1"/>
          <p:nvPr/>
        </p:nvSpPr>
        <p:spPr>
          <a:xfrm>
            <a:off x="10972800" y="6556248"/>
            <a:ext cx="804672" cy="274320"/>
          </a:xfrm>
          <a:prstGeom prst="rect">
            <a:avLst/>
          </a:prstGeom>
          <a:noFill/>
        </p:spPr>
        <p:txBody>
          <a:bodyPr wrap="square" lIns="0" rIns="0" tIns="0" bIns="0">
            <a:spAutoFit/>
          </a:bodyPr>
          <a:lstStyle/>
          <a:p>
            <a:pPr algn="r">
              <a:lnSpc>
                <a:spcPct val="100000"/>
              </a:lnSpc>
              <a:spcBef>
                <a:spcPts val="0"/>
              </a:spcBef>
              <a:spcAft>
                <a:spcPts val="400"/>
              </a:spcAft>
            </a:pPr>
            <a:r>
              <a:rPr sz="900" b="1" i="0">
                <a:solidFill>
                  <a:srgbClr val="6B6B6B"/>
                </a:solidFill>
                <a:latin typeface="Calibri"/>
              </a:rPr>
              <a:t>12</a:t>
            </a:r>
          </a:p>
        </p:txBody>
      </p:sp>
      <p:sp>
        <p:nvSpPr>
          <p:cNvPr id="7" name="Rounded Rectangle 6"/>
          <p:cNvSpPr/>
          <p:nvPr/>
        </p:nvSpPr>
        <p:spPr>
          <a:xfrm>
            <a:off x="411480" y="1298448"/>
            <a:ext cx="1234440" cy="566928"/>
          </a:xfrm>
          <a:prstGeom prst="roundRect">
            <a:avLst>
              <a:gd name="adj" fmla="val 30000"/>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Theory</a:t>
            </a:r>
          </a:p>
        </p:txBody>
      </p:sp>
      <p:sp>
        <p:nvSpPr>
          <p:cNvPr id="8" name="TextBox 7"/>
          <p:cNvSpPr txBox="1"/>
          <p:nvPr/>
        </p:nvSpPr>
        <p:spPr>
          <a:xfrm>
            <a:off x="1874519" y="1271016"/>
            <a:ext cx="9921240" cy="822960"/>
          </a:xfrm>
          <a:prstGeom prst="rect">
            <a:avLst/>
          </a:prstGeom>
          <a:noFill/>
        </p:spPr>
        <p:txBody>
          <a:bodyPr wrap="square" lIns="0" rIns="0" tIns="0" bIns="0">
            <a:spAutoFit/>
          </a:bodyPr>
          <a:lstStyle/>
          <a:p>
            <a:pPr algn="l">
              <a:lnSpc>
                <a:spcPct val="105000"/>
              </a:lnSpc>
              <a:spcBef>
                <a:spcPts val="0"/>
              </a:spcBef>
              <a:spcAft>
                <a:spcPts val="400"/>
              </a:spcAft>
            </a:pPr>
            <a:r>
              <a:rPr sz="1200" b="0" i="0">
                <a:solidFill>
                  <a:srgbClr val="2B2B2B"/>
                </a:solidFill>
                <a:latin typeface="Calibri"/>
              </a:rPr>
              <a:t>DEM with realistic non-spherical representation (multi-sphere / super-quadric / polyhedra) is the right tool for scrap handling — shape is physics, not decoration.</a:t>
            </a:r>
          </a:p>
        </p:txBody>
      </p:sp>
      <p:sp>
        <p:nvSpPr>
          <p:cNvPr id="9" name="Rounded Rectangle 8"/>
          <p:cNvSpPr/>
          <p:nvPr/>
        </p:nvSpPr>
        <p:spPr>
          <a:xfrm>
            <a:off x="411480" y="2231136"/>
            <a:ext cx="1234440" cy="566928"/>
          </a:xfrm>
          <a:prstGeom prst="roundRect">
            <a:avLst>
              <a:gd name="adj" fmla="val 30000"/>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Gap</a:t>
            </a:r>
          </a:p>
        </p:txBody>
      </p:sp>
      <p:sp>
        <p:nvSpPr>
          <p:cNvPr id="10" name="TextBox 9"/>
          <p:cNvSpPr txBox="1"/>
          <p:nvPr/>
        </p:nvSpPr>
        <p:spPr>
          <a:xfrm>
            <a:off x="1874519" y="2203704"/>
            <a:ext cx="9921240" cy="822960"/>
          </a:xfrm>
          <a:prstGeom prst="rect">
            <a:avLst/>
          </a:prstGeom>
          <a:noFill/>
        </p:spPr>
        <p:txBody>
          <a:bodyPr wrap="square" lIns="0" rIns="0" tIns="0" bIns="0">
            <a:spAutoFit/>
          </a:bodyPr>
          <a:lstStyle/>
          <a:p>
            <a:pPr algn="l">
              <a:lnSpc>
                <a:spcPct val="105000"/>
              </a:lnSpc>
              <a:spcBef>
                <a:spcPts val="0"/>
              </a:spcBef>
              <a:spcAft>
                <a:spcPts val="400"/>
              </a:spcAft>
            </a:pPr>
            <a:r>
              <a:rPr sz="1200" b="0" i="0">
                <a:solidFill>
                  <a:srgbClr val="2B2B2B"/>
                </a:solidFill>
                <a:latin typeface="Calibri"/>
              </a:rPr>
              <a:t>Charging/infeed is the weak link: conveyor DEM and EAF melting CFD are both mature; the mechanical, heterogeneous, real-time charging stage is not yet modelled.</a:t>
            </a:r>
          </a:p>
        </p:txBody>
      </p:sp>
      <p:sp>
        <p:nvSpPr>
          <p:cNvPr id="11" name="Rounded Rectangle 10"/>
          <p:cNvSpPr/>
          <p:nvPr/>
        </p:nvSpPr>
        <p:spPr>
          <a:xfrm>
            <a:off x="411480" y="3163824"/>
            <a:ext cx="1234440" cy="566928"/>
          </a:xfrm>
          <a:prstGeom prst="roundRect">
            <a:avLst>
              <a:gd name="adj" fmla="val 30000"/>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Plan</a:t>
            </a:r>
          </a:p>
        </p:txBody>
      </p:sp>
      <p:sp>
        <p:nvSpPr>
          <p:cNvPr id="12" name="TextBox 11"/>
          <p:cNvSpPr txBox="1"/>
          <p:nvPr/>
        </p:nvSpPr>
        <p:spPr>
          <a:xfrm>
            <a:off x="1874519" y="3136392"/>
            <a:ext cx="9921240" cy="822960"/>
          </a:xfrm>
          <a:prstGeom prst="rect">
            <a:avLst/>
          </a:prstGeom>
          <a:noFill/>
        </p:spPr>
        <p:txBody>
          <a:bodyPr wrap="square" lIns="0" rIns="0" tIns="0" bIns="0">
            <a:spAutoFit/>
          </a:bodyPr>
          <a:lstStyle/>
          <a:p>
            <a:pPr algn="l">
              <a:lnSpc>
                <a:spcPct val="105000"/>
              </a:lnSpc>
              <a:spcBef>
                <a:spcPts val="0"/>
              </a:spcBef>
              <a:spcAft>
                <a:spcPts val="400"/>
              </a:spcAft>
            </a:pPr>
            <a:r>
              <a:rPr sz="1200" b="0" i="0">
                <a:solidFill>
                  <a:srgbClr val="2B2B2B"/>
                </a:solidFill>
                <a:latin typeface="Calibri"/>
              </a:rPr>
              <a:t>Coarse-graining + industrial calibration turns the gap into a validated digital twin of EAF infeed — optimised sequences, less wear, less energy.</a:t>
            </a:r>
          </a:p>
        </p:txBody>
      </p:sp>
      <p:sp>
        <p:nvSpPr>
          <p:cNvPr id="13" name="Rounded Rectangle 12"/>
          <p:cNvSpPr/>
          <p:nvPr/>
        </p:nvSpPr>
        <p:spPr>
          <a:xfrm>
            <a:off x="411480" y="4224528"/>
            <a:ext cx="11365992" cy="1051560"/>
          </a:xfrm>
          <a:prstGeom prst="roundRect">
            <a:avLst>
              <a:gd name="adj" fmla="val 4500"/>
            </a:avLst>
          </a:prstGeom>
          <a:solidFill>
            <a:srgbClr val="143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Calibri"/>
              </a:rPr>
              <a:t>Developing the next generation of particle models for sustainable, efficient EAF steel production.</a:t>
            </a:r>
          </a:p>
        </p:txBody>
      </p:sp>
      <p:sp>
        <p:nvSpPr>
          <p:cNvPr id="14" name="TextBox 13"/>
          <p:cNvSpPr txBox="1"/>
          <p:nvPr/>
        </p:nvSpPr>
        <p:spPr>
          <a:xfrm>
            <a:off x="411480" y="5532120"/>
            <a:ext cx="11365992" cy="822960"/>
          </a:xfrm>
          <a:prstGeom prst="rect">
            <a:avLst/>
          </a:prstGeom>
          <a:noFill/>
        </p:spPr>
        <p:txBody>
          <a:bodyPr wrap="square" lIns="0" rIns="0" tIns="0" bIns="0">
            <a:spAutoFit/>
          </a:bodyPr>
          <a:lstStyle/>
          <a:p>
            <a:pPr algn="ctr"/>
            <a:r>
              <a:rPr sz="1400" b="1" i="0">
                <a:solidFill>
                  <a:srgbClr val="143B5C"/>
                </a:solidFill>
                <a:latin typeface="Calibri"/>
              </a:rPr>
              <a:t>Thank you for your time — I welcome your questions.</a:t>
            </a:r>
          </a:p>
          <a:p>
            <a:pPr algn="ctr"/>
            <a:r>
              <a:rPr sz="1050" b="0" i="0">
                <a:solidFill>
                  <a:srgbClr val="6B6B6B"/>
                </a:solidFill>
                <a:latin typeface="Calibri"/>
              </a:rPr>
              <a:t>Your Name  •  TU Delft  •  email@tu.nl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11338560" cy="777240"/>
          </a:xfrm>
          <a:prstGeom prst="rect">
            <a:avLst/>
          </a:prstGeom>
          <a:noFill/>
        </p:spPr>
        <p:txBody>
          <a:bodyPr wrap="square" lIns="0" rIns="0" tIns="0" bIns="0">
            <a:spAutoFit/>
          </a:bodyPr>
          <a:lstStyle/>
          <a:p>
            <a:pPr algn="l">
              <a:lnSpc>
                <a:spcPct val="100000"/>
              </a:lnSpc>
              <a:spcBef>
                <a:spcPts val="0"/>
              </a:spcBef>
              <a:spcAft>
                <a:spcPts val="200"/>
              </a:spcAft>
            </a:pPr>
            <a:r>
              <a:rPr sz="1050" b="1" i="0">
                <a:solidFill>
                  <a:srgbClr val="00A4E4"/>
                </a:solidFill>
                <a:latin typeface="Calibri"/>
              </a:rPr>
              <a:t>SUPPORTING LITERATURE</a:t>
            </a:r>
          </a:p>
          <a:p>
            <a:pPr algn="l">
              <a:lnSpc>
                <a:spcPct val="98000"/>
              </a:lnSpc>
              <a:spcBef>
                <a:spcPts val="0"/>
              </a:spcBef>
              <a:spcAft>
                <a:spcPts val="0"/>
              </a:spcAft>
            </a:pPr>
            <a:r>
              <a:rPr sz="2500" b="1" i="0">
                <a:solidFill>
                  <a:srgbClr val="143B5C"/>
                </a:solidFill>
                <a:latin typeface="Calibri"/>
              </a:rPr>
              <a:t>References</a:t>
            </a:r>
          </a:p>
        </p:txBody>
      </p:sp>
      <p:sp>
        <p:nvSpPr>
          <p:cNvPr id="3" name="Rectangle 2"/>
          <p:cNvSpPr/>
          <p:nvPr/>
        </p:nvSpPr>
        <p:spPr>
          <a:xfrm>
            <a:off x="429768" y="969264"/>
            <a:ext cx="1234440" cy="41148"/>
          </a:xfrm>
          <a:prstGeom prst="rect">
            <a:avLst/>
          </a:prstGeom>
          <a:solidFill>
            <a:srgbClr val="00A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6510528"/>
            <a:ext cx="1136599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556248"/>
            <a:ext cx="8686800" cy="274320"/>
          </a:xfrm>
          <a:prstGeom prst="rect">
            <a:avLst/>
          </a:prstGeom>
          <a:noFill/>
        </p:spPr>
        <p:txBody>
          <a:bodyPr wrap="square" lIns="0" rIns="0" tIns="0" bIns="0">
            <a:spAutoFit/>
          </a:bodyPr>
          <a:lstStyle/>
          <a:p>
            <a:pPr algn="l">
              <a:lnSpc>
                <a:spcPct val="100000"/>
              </a:lnSpc>
              <a:spcBef>
                <a:spcPts val="0"/>
              </a:spcBef>
              <a:spcAft>
                <a:spcPts val="400"/>
              </a:spcAft>
            </a:pPr>
            <a:r>
              <a:rPr sz="800" b="0" i="0">
                <a:solidFill>
                  <a:srgbClr val="6B6B6B"/>
                </a:solidFill>
                <a:latin typeface="Calibri"/>
              </a:rPr>
              <a:t>Particle-Based Modelling of Scrap Handling for Green Steel Production  •  TU Delft × Tata Steel Netherlands</a:t>
            </a:r>
          </a:p>
        </p:txBody>
      </p:sp>
      <p:sp>
        <p:nvSpPr>
          <p:cNvPr id="6" name="TextBox 5"/>
          <p:cNvSpPr txBox="1"/>
          <p:nvPr/>
        </p:nvSpPr>
        <p:spPr>
          <a:xfrm>
            <a:off x="10972800" y="6556248"/>
            <a:ext cx="804672" cy="274320"/>
          </a:xfrm>
          <a:prstGeom prst="rect">
            <a:avLst/>
          </a:prstGeom>
          <a:noFill/>
        </p:spPr>
        <p:txBody>
          <a:bodyPr wrap="square" lIns="0" rIns="0" tIns="0" bIns="0">
            <a:spAutoFit/>
          </a:bodyPr>
          <a:lstStyle/>
          <a:p>
            <a:pPr algn="r">
              <a:lnSpc>
                <a:spcPct val="100000"/>
              </a:lnSpc>
              <a:spcBef>
                <a:spcPts val="0"/>
              </a:spcBef>
              <a:spcAft>
                <a:spcPts val="400"/>
              </a:spcAft>
            </a:pPr>
            <a:r>
              <a:rPr sz="900" b="1" i="0">
                <a:solidFill>
                  <a:srgbClr val="6B6B6B"/>
                </a:solidFill>
                <a:latin typeface="Calibri"/>
              </a:rPr>
              <a:t>13</a:t>
            </a:r>
          </a:p>
        </p:txBody>
      </p:sp>
      <p:sp>
        <p:nvSpPr>
          <p:cNvPr id="7" name="TextBox 6"/>
          <p:cNvSpPr txBox="1"/>
          <p:nvPr/>
        </p:nvSpPr>
        <p:spPr>
          <a:xfrm>
            <a:off x="411480" y="1234440"/>
            <a:ext cx="5577840" cy="5120640"/>
          </a:xfrm>
          <a:prstGeom prst="rect">
            <a:avLst/>
          </a:prstGeom>
          <a:noFill/>
        </p:spPr>
        <p:txBody>
          <a:bodyPr wrap="square" lIns="0" rIns="0" tIns="0" bIns="0">
            <a:spAutoFit/>
          </a:bodyPr>
          <a:lstStyle/>
          <a:p>
            <a:pPr>
              <a:lnSpc>
                <a:spcPct val="100000"/>
              </a:lnSpc>
              <a:spcAft>
                <a:spcPts val="800"/>
              </a:spcAft>
            </a:pPr>
            <a:r>
              <a:rPr sz="850" b="0" i="0">
                <a:solidFill>
                  <a:srgbClr val="2B2B2B"/>
                </a:solidFill>
                <a:latin typeface="Calibri"/>
              </a:rPr>
              <a:t>[1]  Lu G., Third J.R., Müller C.R. (2015). Discrete element models for non-spherical particle systems: from theoretical developments to applications. Chemical Engineering Science 127: 425–465.</a:t>
            </a:r>
          </a:p>
          <a:p>
            <a:pPr>
              <a:lnSpc>
                <a:spcPct val="100000"/>
              </a:lnSpc>
              <a:spcAft>
                <a:spcPts val="800"/>
              </a:spcAft>
            </a:pPr>
            <a:r>
              <a:rPr sz="850" b="0" i="0">
                <a:solidFill>
                  <a:srgbClr val="2B2B2B"/>
                </a:solidFill>
                <a:latin typeface="Calibri"/>
              </a:rPr>
              <a:t>[2]  Zhong W., Yu A., Liu X., Tong Z., Zhang H. (2016). DEM/CFD-DEM modelling of non-spherical particulate systems: theoretical developments and applications. Powder Technology 300: 109–127.</a:t>
            </a:r>
          </a:p>
          <a:p>
            <a:pPr>
              <a:lnSpc>
                <a:spcPct val="100000"/>
              </a:lnSpc>
              <a:spcAft>
                <a:spcPts val="800"/>
              </a:spcAft>
            </a:pPr>
            <a:r>
              <a:rPr sz="850" b="0" i="0">
                <a:solidFill>
                  <a:srgbClr val="2B2B2B"/>
                </a:solidFill>
                <a:latin typeface="Calibri"/>
              </a:rPr>
              <a:t>[3]  Rossow J., Coetzee C.J. (2021). Discrete element modelling of a chevron patterned conveyor belt and a transfer chute. Powder Technology 391: 77–96.</a:t>
            </a:r>
          </a:p>
          <a:p>
            <a:pPr>
              <a:lnSpc>
                <a:spcPct val="100000"/>
              </a:lnSpc>
              <a:spcAft>
                <a:spcPts val="800"/>
              </a:spcAft>
            </a:pPr>
            <a:r>
              <a:rPr sz="850" b="0" i="0">
                <a:solidFill>
                  <a:srgbClr val="2B2B2B"/>
                </a:solidFill>
                <a:latin typeface="Calibri"/>
              </a:rPr>
              <a:t>[4]  Schefler O.C., Coetzee C.J. (2023). Discrete element modelling of a bulk cohesive material discharging from a conveyor belt onto an impact plate. Minerals 13(12): 1501.</a:t>
            </a:r>
          </a:p>
          <a:p>
            <a:pPr>
              <a:lnSpc>
                <a:spcPct val="100000"/>
              </a:lnSpc>
              <a:spcAft>
                <a:spcPts val="800"/>
              </a:spcAft>
            </a:pPr>
            <a:r>
              <a:rPr sz="850" b="0" i="0">
                <a:solidFill>
                  <a:srgbClr val="2B2B2B"/>
                </a:solidFill>
                <a:latin typeface="Calibri"/>
              </a:rPr>
              <a:t>[5]  You Y., Liu M., Ma H., Xu L., Liu B., Shao Y., Tang Y., Zhao Y. (2018). Investigation of the vibration sorting of non-spherical particles based on DEM simulation. Powder Technology. doi:10.1016/j.powtec.2017.11.002.</a:t>
            </a:r>
          </a:p>
          <a:p>
            <a:pPr>
              <a:lnSpc>
                <a:spcPct val="100000"/>
              </a:lnSpc>
              <a:spcAft>
                <a:spcPts val="800"/>
              </a:spcAft>
            </a:pPr>
            <a:r>
              <a:rPr sz="850" b="0" i="0">
                <a:solidFill>
                  <a:srgbClr val="2B2B2B"/>
                </a:solidFill>
                <a:latin typeface="Calibri"/>
              </a:rPr>
              <a:t>[6]  Xiao X., Zhong X., Ma M., Wu X. (2024). A visual based algorithm for measuring the speed of scrap metal vibration feeding. CSAE 2024 (ACM). doi:10.1145/3704814.3704817.</a:t>
            </a:r>
          </a:p>
          <a:p>
            <a:pPr>
              <a:lnSpc>
                <a:spcPct val="100000"/>
              </a:lnSpc>
              <a:spcAft>
                <a:spcPts val="800"/>
              </a:spcAft>
            </a:pPr>
            <a:r>
              <a:rPr sz="850" b="0" i="0">
                <a:solidFill>
                  <a:srgbClr val="2B2B2B"/>
                </a:solidFill>
                <a:latin typeface="Calibri"/>
              </a:rPr>
              <a:t>[7]  Chen Y., Ryan S., Silaen A.K., Zhou C.Q. (2022). Simulation of scrap melting process in an AC electric arc furnace: CFD model development and experimental validation. Metallurgical and Materials Transactions B 53: 3256–3272.</a:t>
            </a:r>
          </a:p>
        </p:txBody>
      </p:sp>
      <p:sp>
        <p:nvSpPr>
          <p:cNvPr id="8" name="TextBox 7"/>
          <p:cNvSpPr txBox="1"/>
          <p:nvPr/>
        </p:nvSpPr>
        <p:spPr>
          <a:xfrm>
            <a:off x="6172200" y="1234440"/>
            <a:ext cx="5577840" cy="5120640"/>
          </a:xfrm>
          <a:prstGeom prst="rect">
            <a:avLst/>
          </a:prstGeom>
          <a:noFill/>
        </p:spPr>
        <p:txBody>
          <a:bodyPr wrap="square" lIns="0" rIns="0" tIns="0" bIns="0">
            <a:spAutoFit/>
          </a:bodyPr>
          <a:lstStyle/>
          <a:p>
            <a:pPr>
              <a:lnSpc>
                <a:spcPct val="100000"/>
              </a:lnSpc>
              <a:spcAft>
                <a:spcPts val="800"/>
              </a:spcAft>
            </a:pPr>
            <a:r>
              <a:rPr sz="850" b="0" i="0">
                <a:solidFill>
                  <a:srgbClr val="2B2B2B"/>
                </a:solidFill>
                <a:latin typeface="Calibri"/>
              </a:rPr>
              <a:t>[8]  Li J., Provatas N., Irons G.A. (2008). Modelling of late melting of scrap in an EAF. AISTech 2008, Irons A8046.</a:t>
            </a:r>
          </a:p>
          <a:p>
            <a:pPr>
              <a:lnSpc>
                <a:spcPct val="100000"/>
              </a:lnSpc>
              <a:spcAft>
                <a:spcPts val="800"/>
              </a:spcAft>
            </a:pPr>
            <a:r>
              <a:rPr sz="850" b="0" i="0">
                <a:solidFill>
                  <a:srgbClr val="2B2B2B"/>
                </a:solidFill>
                <a:latin typeface="Calibri"/>
              </a:rPr>
              <a:t>[9]  Kryszak D., Bartoszewicz A., Szufa S., Piersa P., Obraniak A., Olejnik T.P. (2020). Modelling of transport of loose products with the use of the non-grid method of discrete elements (DEM). Processes 8(11): 1489.</a:t>
            </a:r>
          </a:p>
          <a:p>
            <a:pPr>
              <a:lnSpc>
                <a:spcPct val="100000"/>
              </a:lnSpc>
              <a:spcAft>
                <a:spcPts val="800"/>
              </a:spcAft>
            </a:pPr>
            <a:r>
              <a:rPr sz="850" b="0" i="0">
                <a:solidFill>
                  <a:srgbClr val="2B2B2B"/>
                </a:solidFill>
                <a:latin typeface="Calibri"/>
              </a:rPr>
              <a:t>[10]  Garg R., Galvin J., Li T., Pannala S. (2012). Documentation of open-source MFIX-DEM software for gas-solids flows. National Energy Technology Laboratory / Oak Ridge National Laboratory.</a:t>
            </a:r>
          </a:p>
          <a:p>
            <a:pPr>
              <a:lnSpc>
                <a:spcPct val="100000"/>
              </a:lnSpc>
              <a:spcAft>
                <a:spcPts val="800"/>
              </a:spcAft>
            </a:pPr>
            <a:r>
              <a:rPr sz="850" b="0" i="0">
                <a:solidFill>
                  <a:srgbClr val="2B2B2B"/>
                </a:solidFill>
                <a:latin typeface="Calibri"/>
              </a:rPr>
              <a:t>[11]  Kozicki J., Tejchman J. (2005). Application of a cellular automaton to simulations of granular flow in silos. Granular Matter 7: 45–54.</a:t>
            </a:r>
          </a:p>
          <a:p>
            <a:pPr>
              <a:lnSpc>
                <a:spcPct val="100000"/>
              </a:lnSpc>
              <a:spcAft>
                <a:spcPts val="800"/>
              </a:spcAft>
            </a:pPr>
            <a:r>
              <a:rPr sz="850" b="0" i="0">
                <a:solidFill>
                  <a:srgbClr val="2B2B2B"/>
                </a:solidFill>
                <a:latin typeface="Calibri"/>
              </a:rPr>
              <a:t>[12]  Ahmed H., Pang Y., Adema A., et al. (2026). Industrial-scale DEM modelling of segregation in the blast furnace charging system (Tata Steel IJmuiden). Powder Technology.</a:t>
            </a:r>
          </a:p>
          <a:p>
            <a:pPr>
              <a:lnSpc>
                <a:spcPct val="100000"/>
              </a:lnSpc>
              <a:spcAft>
                <a:spcPts val="800"/>
              </a:spcAft>
            </a:pPr>
            <a:r>
              <a:rPr sz="850" b="0" i="0">
                <a:solidFill>
                  <a:srgbClr val="2B2B2B"/>
                </a:solidFill>
                <a:latin typeface="Calibri"/>
              </a:rPr>
              <a:t>[13]  Guo D., Irons G.A. (2008). Modelling of steel scrap movement. Applied Mathematical Modelling. doi:10.1016/j.apm.2007.06.037.</a:t>
            </a:r>
          </a:p>
          <a:p>
            <a:pPr>
              <a:lnSpc>
                <a:spcPct val="100000"/>
              </a:lnSpc>
              <a:spcAft>
                <a:spcPts val="800"/>
              </a:spcAft>
            </a:pPr>
            <a:r>
              <a:rPr sz="850" b="0" i="0">
                <a:solidFill>
                  <a:srgbClr val="2B2B2B"/>
                </a:solidFill>
                <a:latin typeface="Calibri"/>
              </a:rPr>
              <a:t>[14]  Ugarte O., Li J., Haeberle J., et al. (2024). CFD modelling of HBI/scrap melting in industrial EAF and the impact of charge layering on melting performance. Materials 17(21): 5139.</a:t>
            </a:r>
          </a:p>
        </p:txBody>
      </p:sp>
    </p:spTree>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Crop</Template>
  <TotalTime>2725</TotalTime>
  <Words>13</Words>
  <Application>Microsoft Macintosh PowerPoint</Application>
  <PresentationFormat>Widescreen</PresentationFormat>
  <Paragraphs>3</Paragraphs>
  <Slides>3</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Franklin Gothic Book</vt:lpstr>
      <vt:lpstr>Crop</vt:lpstr>
      <vt:lpstr>Phd thesis</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Tongue Kevin</dc:creator>
  <cp:lastModifiedBy>Tongue Kevin</cp:lastModifiedBy>
  <cp:revision>3</cp:revision>
  <dcterms:created xsi:type="dcterms:W3CDTF">2026-09-15T09:22:19Z</dcterms:created>
  <dcterms:modified xsi:type="dcterms:W3CDTF">2026-09-17T06:48:08Z</dcterms:modified>
</cp:coreProperties>
</file>